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890" y="26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0"/>
            <a:ext cx="7199999" cy="10497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9831" y="0"/>
            <a:ext cx="7199999" cy="10525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5372" y="4619929"/>
            <a:ext cx="218122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A9A9A9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0441" y="4186211"/>
            <a:ext cx="2762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25" dirty="0">
                <a:solidFill>
                  <a:srgbClr val="FF0000"/>
                </a:solidFill>
                <a:latin typeface="Malgun Gothic"/>
                <a:cs typeface="Malgun Gothic"/>
              </a:rPr>
              <a:t>10</a:t>
            </a:r>
            <a:endParaRPr sz="1700" dirty="0">
              <a:solidFill>
                <a:srgbClr val="FF0000"/>
              </a:solidFill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ADP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TOP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I435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71" y="1133475"/>
            <a:ext cx="5424170" cy="8769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900" dirty="0">
                <a:latin typeface="Malgun Gothic"/>
                <a:cs typeface="Malgun Gothic"/>
              </a:rPr>
              <a:t>본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보증서는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ADP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프린트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코팅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방식으로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도장된 컬러강판에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대하여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10년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동안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유효하며,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아래 </a:t>
            </a:r>
            <a:r>
              <a:rPr sz="900" spc="-25" dirty="0">
                <a:latin typeface="Malgun Gothic"/>
                <a:cs typeface="Malgun Gothic"/>
              </a:rPr>
              <a:t>항목에 </a:t>
            </a:r>
            <a:r>
              <a:rPr sz="900" dirty="0">
                <a:latin typeface="Malgun Gothic"/>
                <a:cs typeface="Malgun Gothic"/>
              </a:rPr>
              <a:t>대하여만 </a:t>
            </a:r>
            <a:r>
              <a:rPr sz="900" spc="-10" dirty="0">
                <a:latin typeface="Malgun Gothic"/>
                <a:cs typeface="Malgun Gothic"/>
              </a:rPr>
              <a:t>적용된다.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dirty="0">
                <a:latin typeface="Malgun Gothic"/>
                <a:cs typeface="Malgun Gothic"/>
              </a:rPr>
              <a:t>보증 </a:t>
            </a:r>
            <a:r>
              <a:rPr sz="900" b="1" spc="-25" dirty="0">
                <a:latin typeface="Malgun Gothic"/>
                <a:cs typeface="Malgun Gothic"/>
              </a:rPr>
              <a:t>항목</a:t>
            </a:r>
            <a:endParaRPr sz="9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900" dirty="0">
                <a:latin typeface="Malgun Gothic"/>
                <a:cs typeface="Malgun Gothic"/>
              </a:rPr>
              <a:t>본 보증서는 아래 제시된 조건하에 도막에 대하여 효력을 </a:t>
            </a:r>
            <a:r>
              <a:rPr sz="900" spc="-20" dirty="0">
                <a:latin typeface="Malgun Gothic"/>
                <a:cs typeface="Malgun Gothic"/>
              </a:rPr>
              <a:t>가진다.</a:t>
            </a:r>
            <a:endParaRPr sz="900" dirty="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1906" y="2609639"/>
            <a:ext cx="5615940" cy="246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255" marR="5080" indent="-123189">
              <a:lnSpc>
                <a:spcPct val="110800"/>
              </a:lnSpc>
              <a:spcBef>
                <a:spcPts val="100"/>
              </a:spcBef>
              <a:buAutoNum type="arabicPeriod"/>
              <a:tabLst>
                <a:tab pos="136525" algn="l"/>
              </a:tabLst>
            </a:pP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10</a:t>
            </a:r>
            <a:r>
              <a:rPr sz="900" spc="-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년 </a:t>
            </a:r>
            <a:r>
              <a:rPr sz="900" dirty="0">
                <a:latin typeface="Malgun Gothic"/>
                <a:cs typeface="Malgun Gothic"/>
              </a:rPr>
              <a:t>동안 제품은 벗겨지거나 부서지거나 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육안으로 구분될 정도로 부착력을 상실하지 않을 </a:t>
            </a:r>
            <a:r>
              <a:rPr sz="900" spc="-20" dirty="0">
                <a:latin typeface="Malgun Gothic"/>
                <a:cs typeface="Malgun Gothic"/>
              </a:rPr>
              <a:t>것이다. 	</a:t>
            </a:r>
            <a:r>
              <a:rPr sz="900" dirty="0">
                <a:latin typeface="Malgun Gothic"/>
                <a:cs typeface="Malgun Gothic"/>
              </a:rPr>
              <a:t>(주의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: 약간의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분열이나 깨짐이 롤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성형 끝 부위에서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일어날 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있고, 또는 성형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시 가공부가 부서질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수도 	</a:t>
            </a:r>
            <a:r>
              <a:rPr sz="900" dirty="0">
                <a:latin typeface="Malgun Gothic"/>
                <a:cs typeface="Malgun Gothic"/>
              </a:rPr>
              <a:t>있으며,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그러한 분열이나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깨짐으로 간주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되어지는 것은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이 제한된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보증에서 불만 사항의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원인으로 </a:t>
            </a:r>
            <a:r>
              <a:rPr sz="900" spc="-20" dirty="0">
                <a:latin typeface="Malgun Gothic"/>
                <a:cs typeface="Malgun Gothic"/>
              </a:rPr>
              <a:t>간주되지 	</a:t>
            </a:r>
            <a:r>
              <a:rPr sz="900" dirty="0">
                <a:latin typeface="Malgun Gothic"/>
                <a:cs typeface="Malgun Gothic"/>
              </a:rPr>
              <a:t>않을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것이다.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그리고,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소재의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부식에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의한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결함도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범위에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포함되지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않는다.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925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135255" marR="5080" indent="-123189">
              <a:lnSpc>
                <a:spcPct val="110800"/>
              </a:lnSpc>
              <a:buAutoNum type="arabicPeriod"/>
              <a:tabLst>
                <a:tab pos="136525" algn="l"/>
              </a:tabLst>
            </a:pP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10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동안에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대하여,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제품의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판넬들은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육안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색차가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크게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벗어나지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않을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것이다.(ASTM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2244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를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기준으로 	</a:t>
            </a:r>
            <a:r>
              <a:rPr sz="900" dirty="0">
                <a:latin typeface="Malgun Gothic"/>
                <a:cs typeface="Malgun Gothic"/>
              </a:rPr>
              <a:t>오염물이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제거된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면에서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측정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되었을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때,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다른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표면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결함이나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쵸킹은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ASTM D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3964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따름)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;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그리고, 	</a:t>
            </a:r>
            <a:r>
              <a:rPr sz="900" dirty="0">
                <a:latin typeface="Malgun Gothic"/>
                <a:cs typeface="Malgun Gothic"/>
              </a:rPr>
              <a:t>이것은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원판이나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노출되지 않은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도장면에 대하여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측정한다.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태양이나 다른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요소에 노출된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정도가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다른 </a:t>
            </a:r>
            <a:r>
              <a:rPr sz="900" spc="-25" dirty="0">
                <a:latin typeface="Malgun Gothic"/>
                <a:cs typeface="Malgun Gothic"/>
              </a:rPr>
              <a:t>표면 	</a:t>
            </a:r>
            <a:r>
              <a:rPr sz="900" dirty="0">
                <a:latin typeface="Malgun Gothic"/>
                <a:cs typeface="Malgun Gothic"/>
              </a:rPr>
              <a:t>이라면,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탈색이나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변색 정도가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균일하지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않은 것에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대하여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양해되어야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135255" marR="191770" indent="-123189">
              <a:lnSpc>
                <a:spcPct val="110800"/>
              </a:lnSpc>
              <a:buAutoNum type="arabicPeriod"/>
              <a:tabLst>
                <a:tab pos="136525" algn="l"/>
              </a:tabLst>
            </a:pPr>
            <a:r>
              <a:rPr sz="900" dirty="0">
                <a:latin typeface="Malgun Gothic"/>
                <a:cs typeface="Malgun Gothic"/>
              </a:rPr>
              <a:t>ASTM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D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3964에 따라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표면에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묻은 이물질과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먼지를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제거한 후,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깨끗한 표면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상에서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ASTM D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4214-</a:t>
            </a:r>
            <a:r>
              <a:rPr sz="900" spc="-25" dirty="0">
                <a:latin typeface="Malgun Gothic"/>
                <a:cs typeface="Malgun Gothic"/>
              </a:rPr>
              <a:t>89에 	</a:t>
            </a:r>
            <a:r>
              <a:rPr sz="900" dirty="0">
                <a:latin typeface="Malgun Gothic"/>
                <a:cs typeface="Malgun Gothic"/>
              </a:rPr>
              <a:t>규정된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기준 절차에 상응하여 측정될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때, 쵸킹은 보증된 수치를 초과하지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않는다.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135890" indent="-123189">
              <a:lnSpc>
                <a:spcPct val="100000"/>
              </a:lnSpc>
              <a:buAutoNum type="arabicPeriod"/>
              <a:tabLst>
                <a:tab pos="135890" algn="l"/>
              </a:tabLst>
            </a:pPr>
            <a:r>
              <a:rPr sz="900" dirty="0">
                <a:latin typeface="Malgun Gothic"/>
                <a:cs typeface="Malgun Gothic"/>
              </a:rPr>
              <a:t>보증 </a:t>
            </a:r>
            <a:r>
              <a:rPr sz="900" spc="-25" dirty="0">
                <a:latin typeface="Malgun Gothic"/>
                <a:cs typeface="Malgun Gothic"/>
              </a:rPr>
              <a:t>내용</a:t>
            </a:r>
            <a:endParaRPr sz="900" dirty="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037657"/>
              </p:ext>
            </p:extLst>
          </p:nvPr>
        </p:nvGraphicFramePr>
        <p:xfrm>
          <a:off x="1258620" y="5462858"/>
          <a:ext cx="5546088" cy="2220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3775"/>
                <a:gridCol w="1384935"/>
                <a:gridCol w="791844"/>
                <a:gridCol w="791844"/>
                <a:gridCol w="791845"/>
                <a:gridCol w="791845"/>
              </a:tblGrid>
              <a:tr h="3956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2476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설치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지역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6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패널의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용도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보증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기간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956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Malgun Gothic"/>
                          <a:cs typeface="Malgun Gothic"/>
                        </a:rPr>
                        <a:t>천공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1305" marR="196215" indent="-77470">
                        <a:lnSpc>
                          <a:spcPct val="110800"/>
                        </a:lnSpc>
                        <a:spcBef>
                          <a:spcPts val="325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박리 </a:t>
                      </a:r>
                      <a:r>
                        <a:rPr sz="900" spc="-50" dirty="0">
                          <a:latin typeface="Malgun Gothic"/>
                          <a:cs typeface="Malgun Gothic"/>
                        </a:rPr>
                        <a:t>및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균열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Malgun Gothic"/>
                          <a:cs typeface="Malgun Gothic"/>
                        </a:rPr>
                        <a:t>변색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25" dirty="0">
                          <a:latin typeface="Malgun Gothic"/>
                          <a:cs typeface="Malgun Gothic"/>
                        </a:rPr>
                        <a:t>백화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945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10820" marR="203200" indent="44450" algn="just">
                        <a:lnSpc>
                          <a:spcPct val="1108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latin typeface="Malgun Gothic"/>
                          <a:cs typeface="Malgun Gothic"/>
                        </a:rPr>
                        <a:t>주거지역, 상업지역, 경공업지역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900" spc="-25" dirty="0">
                          <a:latin typeface="Malgun Gothic"/>
                          <a:cs typeface="Malgun Gothic"/>
                        </a:rPr>
                        <a:t>지붕재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100330" marR="92710" algn="ctr">
                        <a:lnSpc>
                          <a:spcPct val="110800"/>
                        </a:lnSpc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9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해안 및 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공업지대에서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1km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이상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떨어진 곳 </a:t>
                      </a:r>
                      <a:r>
                        <a:rPr sz="900" spc="-50" dirty="0">
                          <a:latin typeface="Malgun Gothic"/>
                          <a:cs typeface="Malgun Gothic"/>
                        </a:rPr>
                        <a:t>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60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년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년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40665" marR="217804" indent="-15875">
                        <a:lnSpc>
                          <a:spcPct val="110800"/>
                        </a:lnSpc>
                      </a:pP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&lt;ΔE12 (10년)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717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9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40665" marR="233045" indent="48260">
                        <a:lnSpc>
                          <a:spcPct val="110800"/>
                        </a:lnSpc>
                      </a:pPr>
                      <a:r>
                        <a:rPr sz="900" spc="-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≥#4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(10년)</a:t>
                      </a:r>
                      <a:endParaRPr sz="90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717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99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00" spc="-25" dirty="0">
                          <a:latin typeface="Malgun Gothic"/>
                          <a:cs typeface="Malgun Gothic"/>
                        </a:rPr>
                        <a:t>벽체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100330" marR="92710" algn="ctr">
                        <a:lnSpc>
                          <a:spcPct val="110800"/>
                        </a:lnSpc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9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해안 및 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공업지대에서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1km</a:t>
                      </a:r>
                      <a:r>
                        <a:rPr sz="9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이상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떨어진 곳 </a:t>
                      </a:r>
                      <a:r>
                        <a:rPr sz="900" spc="-50" dirty="0">
                          <a:latin typeface="Malgun Gothic"/>
                          <a:cs typeface="Malgun Gothic"/>
                        </a:rPr>
                        <a:t>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90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년</a:t>
                      </a:r>
                      <a:endParaRPr sz="90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년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40665" marR="233045" indent="15875">
                        <a:lnSpc>
                          <a:spcPct val="110800"/>
                        </a:lnSpc>
                      </a:pPr>
                      <a:r>
                        <a:rPr sz="900" spc="-2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&lt;ΔE9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(10년)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666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9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240665" marR="233045" indent="48260">
                        <a:lnSpc>
                          <a:spcPct val="110800"/>
                        </a:lnSpc>
                      </a:pPr>
                      <a:r>
                        <a:rPr sz="900" spc="-25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≥#6 </a:t>
                      </a:r>
                      <a:r>
                        <a:rPr sz="900" spc="-10" dirty="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(10년)</a:t>
                      </a:r>
                      <a:endParaRPr sz="900" dirty="0">
                        <a:solidFill>
                          <a:srgbClr val="FF0000"/>
                        </a:solidFill>
                        <a:latin typeface="Malgun Gothic"/>
                        <a:cs typeface="Malgun Gothic"/>
                      </a:endParaRPr>
                    </a:p>
                  </a:txBody>
                  <a:tcPr marL="0" marR="0" marT="666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369" y="1181765"/>
            <a:ext cx="5687060" cy="6002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Malgun Gothic"/>
                <a:cs typeface="Malgun Gothic"/>
              </a:rPr>
              <a:t>보증은 다음 항목과 조건에 제약을 </a:t>
            </a:r>
            <a:r>
              <a:rPr sz="900" b="1" spc="-20" dirty="0">
                <a:latin typeface="Malgun Gothic"/>
                <a:cs typeface="Malgun Gothic"/>
              </a:rPr>
              <a:t>받는다.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본 보증서는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저위험지역</a:t>
            </a:r>
            <a:r>
              <a:rPr sz="900" dirty="0">
                <a:latin typeface="Malgun Gothic"/>
                <a:cs typeface="Malgun Gothic"/>
              </a:rPr>
              <a:t>에 설치된 건물에 건재용으로 사용된 컬러강판에 </a:t>
            </a:r>
            <a:r>
              <a:rPr sz="900" spc="-10" dirty="0">
                <a:latin typeface="Malgun Gothic"/>
                <a:cs typeface="Malgun Gothic"/>
              </a:rPr>
              <a:t>제한된다.</a:t>
            </a:r>
            <a:endParaRPr sz="900" dirty="0">
              <a:latin typeface="Malgun Gothic"/>
              <a:cs typeface="Malgun Gothic"/>
            </a:endParaRPr>
          </a:p>
          <a:p>
            <a:pPr marL="201930" marR="257175" indent="-123189">
              <a:lnSpc>
                <a:spcPct val="110800"/>
              </a:lnSpc>
              <a:spcBef>
                <a:spcPts val="1355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본</a:t>
            </a:r>
            <a:r>
              <a:rPr sz="900" spc="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보증서는</a:t>
            </a:r>
            <a:r>
              <a:rPr sz="900" spc="15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3COAT</a:t>
            </a:r>
            <a:r>
              <a:rPr sz="900" spc="5" dirty="0">
                <a:solidFill>
                  <a:srgbClr val="FF0000"/>
                </a:solidFill>
                <a:latin typeface="Malgun Gothic"/>
                <a:cs typeface="Malgun Gothic"/>
              </a:rPr>
              <a:t>,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3BAKE</a:t>
            </a:r>
            <a:r>
              <a:rPr sz="900" spc="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도장방식으로</a:t>
            </a:r>
            <a:r>
              <a:rPr sz="900" spc="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전체</a:t>
            </a:r>
            <a:r>
              <a:rPr sz="900" spc="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도막두께는</a:t>
            </a:r>
            <a:r>
              <a:rPr sz="900" spc="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TOP면(PRIMER+BASE+CLEAR)이</a:t>
            </a:r>
            <a:r>
              <a:rPr sz="900" spc="10" dirty="0"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33</a:t>
            </a:r>
            <a:r>
              <a:rPr sz="900" spc="-10" dirty="0">
                <a:latin typeface="Malgun Gothic"/>
                <a:cs typeface="Malgun Gothic"/>
              </a:rPr>
              <a:t>(±2</a:t>
            </a:r>
            <a:r>
              <a:rPr sz="900" spc="-30" dirty="0">
                <a:latin typeface="Malgun Gothic"/>
                <a:cs typeface="Malgun Gothic"/>
              </a:rPr>
              <a:t>)㎛</a:t>
            </a:r>
            <a:r>
              <a:rPr sz="900" spc="-50" dirty="0">
                <a:latin typeface="Malgun Gothic"/>
                <a:cs typeface="Malgun Gothic"/>
              </a:rPr>
              <a:t> 	</a:t>
            </a:r>
            <a:r>
              <a:rPr sz="900" dirty="0">
                <a:latin typeface="Malgun Gothic"/>
                <a:cs typeface="Malgun Gothic"/>
              </a:rPr>
              <a:t>이고</a:t>
            </a:r>
            <a:r>
              <a:rPr sz="900" spc="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하도</a:t>
            </a:r>
            <a:r>
              <a:rPr sz="900" spc="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도막두께는</a:t>
            </a:r>
            <a:r>
              <a:rPr sz="900" spc="10" dirty="0"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FF0000"/>
                </a:solidFill>
                <a:latin typeface="Malgun Gothic"/>
                <a:cs typeface="Malgun Gothic"/>
              </a:rPr>
              <a:t>5</a:t>
            </a:r>
            <a:r>
              <a:rPr sz="900" spc="-10" dirty="0">
                <a:latin typeface="Malgun Gothic"/>
                <a:cs typeface="Malgun Gothic"/>
              </a:rPr>
              <a:t>(±1)㎛</a:t>
            </a:r>
            <a:r>
              <a:rPr sz="900" spc="-25" dirty="0">
                <a:latin typeface="Malgun Gothic"/>
                <a:cs typeface="Malgun Gothic"/>
              </a:rPr>
              <a:t>이다.</a:t>
            </a:r>
            <a:endParaRPr sz="900" dirty="0">
              <a:latin typeface="Malgun Gothic"/>
              <a:cs typeface="Malgun Gothic"/>
            </a:endParaRPr>
          </a:p>
          <a:p>
            <a:pPr marL="201930" marR="40640" indent="-123189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공급된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PRIN-</a:t>
            </a:r>
            <a:r>
              <a:rPr sz="900" dirty="0">
                <a:latin typeface="Malgun Gothic"/>
                <a:cs typeface="Malgun Gothic"/>
              </a:rPr>
              <a:t>COAT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컬러강판의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도장에서는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어떤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공정에서든 스크래치,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마모,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손상이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없어야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하고 </a:t>
            </a:r>
            <a:r>
              <a:rPr sz="900" spc="-20" dirty="0">
                <a:latin typeface="Malgun Gothic"/>
                <a:cs typeface="Malgun Gothic"/>
              </a:rPr>
              <a:t>부적절한 	</a:t>
            </a:r>
            <a:r>
              <a:rPr sz="900" dirty="0">
                <a:latin typeface="Malgun Gothic"/>
                <a:cs typeface="Malgun Gothic"/>
              </a:rPr>
              <a:t>물질과 함께 도장되어서는 </a:t>
            </a:r>
            <a:r>
              <a:rPr sz="900" spc="-20" dirty="0">
                <a:latin typeface="Malgun Gothic"/>
                <a:cs typeface="Malgun Gothic"/>
              </a:rPr>
              <a:t>안된다.</a:t>
            </a:r>
            <a:endParaRPr sz="900" dirty="0">
              <a:latin typeface="Malgun Gothic"/>
              <a:cs typeface="Malgun Gothic"/>
            </a:endParaRPr>
          </a:p>
          <a:p>
            <a:pPr marL="201930" marR="403860" indent="-123189">
              <a:lnSpc>
                <a:spcPct val="110800"/>
              </a:lnSpc>
              <a:spcBef>
                <a:spcPts val="1000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노출된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지역이나 빗물에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의하여 씻겨지지 않는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지역은 최소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6 개월마다 세척이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되어야 한다. </a:t>
            </a:r>
            <a:r>
              <a:rPr sz="900" spc="-25" dirty="0">
                <a:latin typeface="Malgun Gothic"/>
                <a:cs typeface="Malgun Gothic"/>
              </a:rPr>
              <a:t>세척이 	</a:t>
            </a:r>
            <a:r>
              <a:rPr sz="900" dirty="0">
                <a:latin typeface="Malgun Gothic"/>
                <a:cs typeface="Malgun Gothic"/>
              </a:rPr>
              <a:t>되어있지 않음으로 발생하는 녹은 보증사항에서 </a:t>
            </a:r>
            <a:r>
              <a:rPr sz="900" spc="-10" dirty="0">
                <a:latin typeface="Malgun Gothic"/>
                <a:cs typeface="Malgun Gothic"/>
              </a:rPr>
              <a:t>제외된다.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115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본 보증서의 변색과 백화는 유색에 대하여 적용되지 </a:t>
            </a:r>
            <a:r>
              <a:rPr sz="900" spc="-10" dirty="0">
                <a:latin typeface="Malgun Gothic"/>
                <a:cs typeface="Malgun Gothic"/>
              </a:rPr>
              <a:t>아니한다.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공급된 제품은 어느 시기라도 부적절한 물질과 접촉되어서는 안 </a:t>
            </a:r>
            <a:r>
              <a:rPr sz="900" spc="-25" dirty="0">
                <a:latin typeface="Malgun Gothic"/>
                <a:cs typeface="Malgun Gothic"/>
              </a:rPr>
              <a:t>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후도장 된 제품은 보증에 포함되지 </a:t>
            </a:r>
            <a:r>
              <a:rPr sz="900" spc="-20" dirty="0">
                <a:latin typeface="Malgun Gothic"/>
                <a:cs typeface="Malgun Gothic"/>
              </a:rPr>
              <a:t>않는다.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marR="238125" indent="-123189">
              <a:lnSpc>
                <a:spcPct val="110800"/>
              </a:lnSpc>
              <a:spcBef>
                <a:spcPts val="5"/>
              </a:spcBef>
              <a:buAutoNum type="arabicPeriod"/>
              <a:tabLst>
                <a:tab pos="203200" algn="l"/>
              </a:tabLst>
            </a:pPr>
            <a:r>
              <a:rPr sz="900" dirty="0">
                <a:latin typeface="Malgun Gothic"/>
                <a:cs typeface="Malgun Gothic"/>
              </a:rPr>
              <a:t>빗물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장치나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잠금 장치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등과 같은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강판에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고정된 모든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부분은 세아씨엠에서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입증된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아연도금, </a:t>
            </a:r>
            <a:r>
              <a:rPr sz="900" spc="-20" dirty="0">
                <a:latin typeface="Malgun Gothic"/>
                <a:cs typeface="Malgun Gothic"/>
              </a:rPr>
              <a:t>알루미늄 	</a:t>
            </a:r>
            <a:r>
              <a:rPr sz="900" dirty="0">
                <a:latin typeface="Malgun Gothic"/>
                <a:cs typeface="Malgun Gothic"/>
              </a:rPr>
              <a:t>소재에 </a:t>
            </a:r>
            <a:r>
              <a:rPr sz="900" spc="-10" dirty="0">
                <a:latin typeface="Malgun Gothic"/>
                <a:cs typeface="Malgun Gothic"/>
              </a:rPr>
              <a:t>PRIN-</a:t>
            </a:r>
            <a:r>
              <a:rPr sz="900" dirty="0">
                <a:latin typeface="Malgun Gothic"/>
                <a:cs typeface="Malgun Gothic"/>
              </a:rPr>
              <a:t>COAT 로</a:t>
            </a:r>
            <a:r>
              <a:rPr sz="900" spc="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도장된 면에 설치</a:t>
            </a:r>
            <a:r>
              <a:rPr sz="900" spc="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되어야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 marL="201930" indent="-123189">
              <a:lnSpc>
                <a:spcPct val="100000"/>
              </a:lnSpc>
              <a:spcBef>
                <a:spcPts val="1115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지붕의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피치(Pitch)는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수평으로부터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5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이상으로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설치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되어야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8605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지붕은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완전히 선형이어야 하고,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노출된 처마나 빗물에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의해 씻겨지지 않는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은폐된 곳은 포함되지 </a:t>
            </a:r>
            <a:r>
              <a:rPr sz="900" spc="-20" dirty="0">
                <a:latin typeface="Malgun Gothic"/>
                <a:cs typeface="Malgun Gothic"/>
              </a:rPr>
              <a:t>않는다.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86055">
              <a:lnSpc>
                <a:spcPct val="100000"/>
              </a:lnSpc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벽면은 건축 도중이나 일반적 노출 상태에서 콘크리트 거푸집으로의 사용이나 침적이 되지 않아야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8605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벽체는 자연 빗물에 의한 씻김을 방해 받지 않아야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Malgun Gothic"/>
              <a:buAutoNum type="arabicPeriod"/>
            </a:pPr>
            <a:endParaRPr sz="900" dirty="0">
              <a:latin typeface="Malgun Gothic"/>
              <a:cs typeface="Malgun Gothic"/>
            </a:endParaRPr>
          </a:p>
          <a:p>
            <a:pPr marL="201930" indent="-186055">
              <a:lnSpc>
                <a:spcPct val="100000"/>
              </a:lnSpc>
              <a:buAutoNum type="arabicPeriod"/>
              <a:tabLst>
                <a:tab pos="201930" algn="l"/>
              </a:tabLst>
            </a:pPr>
            <a:r>
              <a:rPr sz="900" dirty="0">
                <a:latin typeface="Malgun Gothic"/>
                <a:cs typeface="Malgun Gothic"/>
              </a:rPr>
              <a:t>본 보증서는 다음 요인으로 야기된 결함을 보증하지 </a:t>
            </a:r>
            <a:r>
              <a:rPr sz="900" spc="-20" dirty="0">
                <a:latin typeface="Malgun Gothic"/>
                <a:cs typeface="Malgun Gothic"/>
              </a:rPr>
              <a:t>않는다.</a:t>
            </a:r>
            <a:endParaRPr sz="900" dirty="0">
              <a:latin typeface="Malgun Gothic"/>
              <a:cs typeface="Malgun Gothic"/>
            </a:endParaRPr>
          </a:p>
          <a:p>
            <a:pPr marL="392430" lvl="1" indent="-132715">
              <a:lnSpc>
                <a:spcPct val="100000"/>
              </a:lnSpc>
              <a:spcBef>
                <a:spcPts val="1130"/>
              </a:spcBef>
              <a:buAutoNum type="arabicParenR"/>
              <a:tabLst>
                <a:tab pos="392430" algn="l"/>
              </a:tabLst>
            </a:pPr>
            <a:r>
              <a:rPr sz="900" dirty="0">
                <a:latin typeface="Malgun Gothic"/>
                <a:cs typeface="Malgun Gothic"/>
              </a:rPr>
              <a:t>공정,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운송,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취급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설치의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부적절함으로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인하여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야기된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도막의 </a:t>
            </a:r>
            <a:r>
              <a:rPr sz="900" spc="-25" dirty="0">
                <a:latin typeface="Malgun Gothic"/>
                <a:cs typeface="Malgun Gothic"/>
              </a:rPr>
              <a:t>결함.</a:t>
            </a:r>
            <a:endParaRPr sz="900" dirty="0">
              <a:latin typeface="Malgun Gothic"/>
              <a:cs typeface="Malgun Gothic"/>
            </a:endParaRPr>
          </a:p>
          <a:p>
            <a:pPr marL="392430" lvl="1" indent="-132715">
              <a:lnSpc>
                <a:spcPct val="100000"/>
              </a:lnSpc>
              <a:spcBef>
                <a:spcPts val="905"/>
              </a:spcBef>
              <a:buAutoNum type="arabicParenR"/>
              <a:tabLst>
                <a:tab pos="392430" algn="l"/>
              </a:tabLst>
            </a:pPr>
            <a:r>
              <a:rPr sz="900" dirty="0">
                <a:latin typeface="Malgun Gothic"/>
                <a:cs typeface="Malgun Gothic"/>
              </a:rPr>
              <a:t>잘못된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디자인,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제조방법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및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설치에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의한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결함.</a:t>
            </a:r>
            <a:endParaRPr sz="900" dirty="0">
              <a:latin typeface="Malgun Gothic"/>
              <a:cs typeface="Malgun Gothic"/>
            </a:endParaRPr>
          </a:p>
          <a:p>
            <a:pPr marL="391795" marR="389255" lvl="1" indent="-132715">
              <a:lnSpc>
                <a:spcPct val="110800"/>
              </a:lnSpc>
              <a:spcBef>
                <a:spcPts val="785"/>
              </a:spcBef>
              <a:buAutoNum type="arabicParenR"/>
              <a:tabLst>
                <a:tab pos="393065" algn="l"/>
              </a:tabLst>
            </a:pPr>
            <a:r>
              <a:rPr sz="900" dirty="0">
                <a:latin typeface="Malgun Gothic"/>
                <a:cs typeface="Malgun Gothic"/>
              </a:rPr>
              <a:t>비정상적인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노출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: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가혹한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오염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혹독한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습한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지나치게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더운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지역, 화학제품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철강 	</a:t>
            </a:r>
            <a:r>
              <a:rPr sz="900" dirty="0">
                <a:latin typeface="Malgun Gothic"/>
                <a:cs typeface="Malgun Gothic"/>
              </a:rPr>
              <a:t>공업지대에 </a:t>
            </a:r>
            <a:r>
              <a:rPr sz="900" spc="-25" dirty="0">
                <a:latin typeface="Malgun Gothic"/>
                <a:cs typeface="Malgun Gothic"/>
              </a:rPr>
              <a:t>근접.</a:t>
            </a:r>
            <a:endParaRPr sz="900" dirty="0">
              <a:latin typeface="Malgun Gothic"/>
              <a:cs typeface="Malgun Gothic"/>
            </a:endParaRPr>
          </a:p>
          <a:p>
            <a:pPr marL="391795" marR="5080" lvl="1" indent="-132715">
              <a:lnSpc>
                <a:spcPct val="110800"/>
              </a:lnSpc>
              <a:spcBef>
                <a:spcPts val="150"/>
              </a:spcBef>
              <a:buAutoNum type="arabicParenR"/>
              <a:tabLst>
                <a:tab pos="393065" algn="l"/>
              </a:tabLst>
            </a:pPr>
            <a:r>
              <a:rPr sz="900" dirty="0">
                <a:latin typeface="Malgun Gothic"/>
                <a:cs typeface="Malgun Gothic"/>
              </a:rPr>
              <a:t>콘크리트,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몰타르,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토양,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재,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비료,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습기를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머금은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물질,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납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또는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구리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그리고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다른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유사한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금속,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구리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성분 	</a:t>
            </a:r>
            <a:r>
              <a:rPr sz="900" dirty="0">
                <a:latin typeface="Malgun Gothic"/>
                <a:cs typeface="Malgun Gothic"/>
              </a:rPr>
              <a:t>지붕과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벽의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접촉면의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액체,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구리 파이프,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숲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젖은 목재나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처리된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목재로부터의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액체와 </a:t>
            </a:r>
            <a:r>
              <a:rPr sz="900" spc="-20" dirty="0">
                <a:latin typeface="Malgun Gothic"/>
                <a:cs typeface="Malgun Gothic"/>
              </a:rPr>
              <a:t>접촉하는 	</a:t>
            </a:r>
            <a:r>
              <a:rPr sz="900" spc="-25" dirty="0">
                <a:latin typeface="Malgun Gothic"/>
                <a:cs typeface="Malgun Gothic"/>
              </a:rPr>
              <a:t>경우.</a:t>
            </a:r>
            <a:endParaRPr sz="9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31" y="0"/>
            <a:ext cx="7199999" cy="104965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719937" y="7656325"/>
            <a:ext cx="68135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0000"/>
                </a:solidFill>
                <a:latin typeface="Malgun Gothic"/>
                <a:cs typeface="Malgun Gothic"/>
              </a:rPr>
              <a:t>2025.06.24</a:t>
            </a:r>
            <a:endParaRPr sz="1000" dirty="0">
              <a:solidFill>
                <a:srgbClr val="FF0000"/>
              </a:solidFill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6579" y="6551526"/>
            <a:ext cx="1914791" cy="9526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3053" y="1266979"/>
            <a:ext cx="5744845" cy="398017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14020" indent="-132715">
              <a:lnSpc>
                <a:spcPct val="100000"/>
              </a:lnSpc>
              <a:spcBef>
                <a:spcPts val="215"/>
              </a:spcBef>
              <a:buAutoNum type="arabicParenR" startAt="5"/>
              <a:tabLst>
                <a:tab pos="414020" algn="l"/>
              </a:tabLst>
            </a:pPr>
            <a:r>
              <a:rPr sz="900" dirty="0">
                <a:latin typeface="Malgun Gothic"/>
                <a:cs typeface="Malgun Gothic"/>
              </a:rPr>
              <a:t>지붕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위에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직접적으로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떨어져 흐르는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빗물보다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더한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화학적이나 다른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행위,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증기, </a:t>
            </a:r>
            <a:r>
              <a:rPr sz="900" spc="-20" dirty="0">
                <a:latin typeface="Malgun Gothic"/>
                <a:cs typeface="Malgun Gothic"/>
              </a:rPr>
              <a:t>액상이나</a:t>
            </a:r>
            <a:endParaRPr sz="900" dirty="0">
              <a:latin typeface="Malgun Gothic"/>
              <a:cs typeface="Malgun Gothic"/>
            </a:endParaRPr>
          </a:p>
          <a:p>
            <a:pPr marL="414020" indent="-132715">
              <a:lnSpc>
                <a:spcPct val="100000"/>
              </a:lnSpc>
              <a:spcBef>
                <a:spcPts val="120"/>
              </a:spcBef>
              <a:buAutoNum type="arabicParenR" startAt="5"/>
              <a:tabLst>
                <a:tab pos="414020" algn="l"/>
              </a:tabLst>
            </a:pPr>
            <a:r>
              <a:rPr sz="900" dirty="0">
                <a:latin typeface="Malgun Gothic"/>
                <a:cs typeface="Malgun Gothic"/>
              </a:rPr>
              <a:t>고상으로부터의 </a:t>
            </a:r>
            <a:r>
              <a:rPr sz="900" spc="-25" dirty="0">
                <a:latin typeface="Malgun Gothic"/>
                <a:cs typeface="Malgun Gothic"/>
              </a:rPr>
              <a:t>침투.</a:t>
            </a:r>
            <a:endParaRPr sz="900" dirty="0">
              <a:latin typeface="Malgun Gothic"/>
              <a:cs typeface="Malgun Gothic"/>
            </a:endParaRPr>
          </a:p>
          <a:p>
            <a:pPr marL="415290">
              <a:lnSpc>
                <a:spcPct val="100000"/>
              </a:lnSpc>
              <a:spcBef>
                <a:spcPts val="265"/>
              </a:spcBef>
            </a:pPr>
            <a:r>
              <a:rPr sz="900" dirty="0">
                <a:latin typeface="Malgun Gothic"/>
                <a:cs typeface="Malgun Gothic"/>
              </a:rPr>
              <a:t>다른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퇴적물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제거의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실패 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제품의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모든 표면으로부터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내부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표면을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포함하여 배수(응축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포함)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실패.</a:t>
            </a:r>
            <a:endParaRPr sz="900" dirty="0">
              <a:latin typeface="Malgun Gothic"/>
              <a:cs typeface="Malgun Gothic"/>
            </a:endParaRPr>
          </a:p>
          <a:p>
            <a:pPr marL="414020" indent="-132715">
              <a:lnSpc>
                <a:spcPct val="100000"/>
              </a:lnSpc>
              <a:spcBef>
                <a:spcPts val="905"/>
              </a:spcBef>
              <a:buAutoNum type="arabicParenR" startAt="7"/>
              <a:tabLst>
                <a:tab pos="414020" algn="l"/>
              </a:tabLst>
            </a:pPr>
            <a:r>
              <a:rPr sz="900" dirty="0">
                <a:latin typeface="Malgun Gothic"/>
                <a:cs typeface="Malgun Gothic"/>
              </a:rPr>
              <a:t>미래의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어떤 시기에 해염,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가혹한 공업 지대 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일상적이지 않는 부식 환경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지역에 설치 된 </a:t>
            </a:r>
            <a:r>
              <a:rPr sz="900" spc="-25" dirty="0">
                <a:latin typeface="Malgun Gothic"/>
                <a:cs typeface="Malgun Gothic"/>
              </a:rPr>
              <a:t>경우.</a:t>
            </a:r>
            <a:endParaRPr sz="900" dirty="0">
              <a:latin typeface="Malgun Gothic"/>
              <a:cs typeface="Malgun Gothic"/>
            </a:endParaRPr>
          </a:p>
          <a:p>
            <a:pPr marL="414020" indent="-132715">
              <a:lnSpc>
                <a:spcPct val="100000"/>
              </a:lnSpc>
              <a:spcBef>
                <a:spcPts val="905"/>
              </a:spcBef>
              <a:buAutoNum type="arabicParenR" startAt="7"/>
              <a:tabLst>
                <a:tab pos="414020" algn="l"/>
              </a:tabLst>
            </a:pPr>
            <a:r>
              <a:rPr sz="900" dirty="0">
                <a:latin typeface="Malgun Gothic"/>
                <a:cs typeface="Malgun Gothic"/>
              </a:rPr>
              <a:t>절단면이나 포장 마지막 부분에서 발생되는 </a:t>
            </a:r>
            <a:r>
              <a:rPr sz="900" spc="-25" dirty="0">
                <a:latin typeface="Malgun Gothic"/>
                <a:cs typeface="Malgun Gothic"/>
              </a:rPr>
              <a:t>부식.</a:t>
            </a:r>
            <a:endParaRPr sz="900" dirty="0">
              <a:latin typeface="Malgun Gothic"/>
              <a:cs typeface="Malgun Gothic"/>
            </a:endParaRPr>
          </a:p>
          <a:p>
            <a:pPr marL="414020" indent="-132715">
              <a:lnSpc>
                <a:spcPct val="100000"/>
              </a:lnSpc>
              <a:spcBef>
                <a:spcPts val="900"/>
              </a:spcBef>
              <a:buAutoNum type="arabicParenR" startAt="7"/>
              <a:tabLst>
                <a:tab pos="414020" algn="l"/>
              </a:tabLst>
            </a:pPr>
            <a:r>
              <a:rPr sz="900" dirty="0">
                <a:latin typeface="Malgun Gothic"/>
                <a:cs typeface="Malgun Gothic"/>
              </a:rPr>
              <a:t>부식된 고정물의 대체품으로서의 </a:t>
            </a:r>
            <a:r>
              <a:rPr sz="900" spc="-25" dirty="0">
                <a:latin typeface="Malgun Gothic"/>
                <a:cs typeface="Malgun Gothic"/>
              </a:rPr>
              <a:t>실패.</a:t>
            </a:r>
            <a:endParaRPr sz="900" dirty="0">
              <a:latin typeface="Malgun Gothic"/>
              <a:cs typeface="Malgun Gothic"/>
            </a:endParaRPr>
          </a:p>
          <a:p>
            <a:pPr marL="414020" indent="-195580">
              <a:lnSpc>
                <a:spcPct val="100000"/>
              </a:lnSpc>
              <a:spcBef>
                <a:spcPts val="905"/>
              </a:spcBef>
              <a:buAutoNum type="arabicParenR" startAt="7"/>
              <a:tabLst>
                <a:tab pos="414020" algn="l"/>
              </a:tabLst>
            </a:pPr>
            <a:r>
              <a:rPr sz="900" dirty="0">
                <a:latin typeface="Malgun Gothic"/>
                <a:cs typeface="Malgun Gothic"/>
              </a:rPr>
              <a:t>도막 박리에 있어서 제품의 표면에서 내부로 향한 </a:t>
            </a:r>
            <a:r>
              <a:rPr sz="900" spc="-25" dirty="0">
                <a:latin typeface="Malgun Gothic"/>
                <a:cs typeface="Malgun Gothic"/>
              </a:rPr>
              <a:t>것.</a:t>
            </a:r>
            <a:endParaRPr sz="900" dirty="0">
              <a:latin typeface="Malgun Gothic"/>
              <a:cs typeface="Malgun Gothic"/>
            </a:endParaRPr>
          </a:p>
          <a:p>
            <a:pPr marL="414020" marR="259715" indent="-195580">
              <a:lnSpc>
                <a:spcPct val="110800"/>
              </a:lnSpc>
              <a:spcBef>
                <a:spcPts val="790"/>
              </a:spcBef>
              <a:buAutoNum type="arabicParenR" startAt="7"/>
              <a:tabLst>
                <a:tab pos="415290" algn="l"/>
              </a:tabLst>
            </a:pPr>
            <a:r>
              <a:rPr sz="900" dirty="0">
                <a:latin typeface="Malgun Gothic"/>
                <a:cs typeface="Malgun Gothic"/>
              </a:rPr>
              <a:t>자연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재해,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불,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홍수,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폭발,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낙석,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전쟁행위,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폭동,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염분,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원자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방사능,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태풍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및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다른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유사한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천재지변에 	</a:t>
            </a:r>
            <a:r>
              <a:rPr sz="900" dirty="0">
                <a:latin typeface="Malgun Gothic"/>
                <a:cs typeface="Malgun Gothic"/>
              </a:rPr>
              <a:t>의하여 발생된 </a:t>
            </a:r>
            <a:r>
              <a:rPr sz="900" spc="-25" dirty="0">
                <a:latin typeface="Malgun Gothic"/>
                <a:cs typeface="Malgun Gothic"/>
              </a:rPr>
              <a:t>결함.</a:t>
            </a:r>
            <a:endParaRPr sz="900" dirty="0">
              <a:latin typeface="Malgun Gothic"/>
              <a:cs typeface="Malgun Gothic"/>
            </a:endParaRPr>
          </a:p>
          <a:p>
            <a:pPr marL="223520" marR="193040" indent="-186055">
              <a:lnSpc>
                <a:spcPct val="110800"/>
              </a:lnSpc>
              <a:spcBef>
                <a:spcPts val="1025"/>
              </a:spcBef>
              <a:buAutoNum type="arabicPeriod" startAt="14"/>
              <a:tabLst>
                <a:tab pos="224790" algn="l"/>
              </a:tabLst>
            </a:pPr>
            <a:r>
              <a:rPr sz="900" dirty="0">
                <a:latin typeface="Malgun Gothic"/>
                <a:cs typeface="Malgun Gothic"/>
              </a:rPr>
              <a:t>본 보증 조건은 실제 고객사에 공급되는 제품의 컬러에 따라 보증기간 및 보증내용이 변경 될 수 </a:t>
            </a:r>
            <a:r>
              <a:rPr sz="900" spc="-20" dirty="0">
                <a:latin typeface="Malgun Gothic"/>
                <a:cs typeface="Malgun Gothic"/>
              </a:rPr>
              <a:t>있으며, 	</a:t>
            </a:r>
            <a:r>
              <a:rPr sz="900" dirty="0">
                <a:latin typeface="Malgun Gothic"/>
                <a:cs typeface="Malgun Gothic"/>
              </a:rPr>
              <a:t>실제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제품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공급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시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컬러별로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적용되는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보증조건(기간)으로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제품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보증서가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발행되며,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보증기간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및</a:t>
            </a:r>
            <a:r>
              <a:rPr sz="900" spc="-10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보증 	</a:t>
            </a:r>
            <a:r>
              <a:rPr sz="900" dirty="0">
                <a:latin typeface="Malgun Gothic"/>
                <a:cs typeface="Malgun Gothic"/>
              </a:rPr>
              <a:t>내용은 컬러별로 발행 된 제품 보증서를 기준으로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 marL="223520" marR="142240" indent="-186055" algn="just">
              <a:lnSpc>
                <a:spcPct val="110800"/>
              </a:lnSpc>
              <a:spcBef>
                <a:spcPts val="1000"/>
              </a:spcBef>
              <a:buAutoNum type="arabicPeriod" startAt="14"/>
              <a:tabLst>
                <a:tab pos="224790" algn="l"/>
              </a:tabLst>
            </a:pPr>
            <a:r>
              <a:rPr sz="900" dirty="0">
                <a:latin typeface="Malgun Gothic"/>
                <a:cs typeface="Malgun Gothic"/>
              </a:rPr>
              <a:t>결함이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발견된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30일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이내에,</a:t>
            </a:r>
            <a:r>
              <a:rPr sz="900" spc="30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보증 기간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내에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클레임을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제기해야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한다. 구매자는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서면으로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결함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5" dirty="0">
                <a:latin typeface="Malgun Gothic"/>
                <a:cs typeface="Malgun Gothic"/>
              </a:rPr>
              <a:t>내용을 	</a:t>
            </a:r>
            <a:r>
              <a:rPr sz="900" dirty="0">
                <a:latin typeface="Malgun Gothic"/>
                <a:cs typeface="Malgun Gothic"/>
              </a:rPr>
              <a:t>알려야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하고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결함을 조사할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기회를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제공하여야 한다.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또한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구매자는 결함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발생된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제품 코일의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수, Lot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spc="-20" dirty="0">
                <a:latin typeface="Malgun Gothic"/>
                <a:cs typeface="Malgun Gothic"/>
              </a:rPr>
              <a:t>No., 	</a:t>
            </a:r>
            <a:r>
              <a:rPr sz="900" dirty="0">
                <a:latin typeface="Malgun Gothic"/>
                <a:cs typeface="Malgun Gothic"/>
              </a:rPr>
              <a:t>시공일</a:t>
            </a:r>
            <a:r>
              <a:rPr sz="900" spc="-1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및 최종 사용자를 표기하여 샘플 3매를 제공하여야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 marL="223520" marR="30480" indent="-186055">
              <a:lnSpc>
                <a:spcPct val="110800"/>
              </a:lnSpc>
              <a:spcBef>
                <a:spcPts val="990"/>
              </a:spcBef>
              <a:buAutoNum type="arabicPeriod" startAt="14"/>
              <a:tabLst>
                <a:tab pos="224790" algn="l"/>
              </a:tabLst>
            </a:pPr>
            <a:r>
              <a:rPr sz="900" dirty="0">
                <a:latin typeface="Malgun Gothic"/>
                <a:cs typeface="Malgun Gothic"/>
              </a:rPr>
              <a:t>최종 사용자는 세아씨엠의 요구에 대한 유용한 정보를 제공하기 위하여 설치된 각 건물에 대한 코일의 </a:t>
            </a:r>
            <a:r>
              <a:rPr sz="900" spc="-25" dirty="0">
                <a:latin typeface="Malgun Gothic"/>
                <a:cs typeface="Malgun Gothic"/>
              </a:rPr>
              <a:t>수를 	</a:t>
            </a:r>
            <a:r>
              <a:rPr sz="900" dirty="0">
                <a:latin typeface="Malgun Gothic"/>
                <a:cs typeface="Malgun Gothic"/>
              </a:rPr>
              <a:t>명기하여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FF0000"/>
                </a:solidFill>
                <a:latin typeface="Malgun Gothic"/>
                <a:cs typeface="Malgun Gothic"/>
              </a:rPr>
              <a:t>11년</a:t>
            </a:r>
            <a:r>
              <a:rPr sz="900" dirty="0">
                <a:latin typeface="Malgun Gothic"/>
                <a:cs typeface="Malgun Gothic"/>
              </a:rPr>
              <a:t> 동안 기록을</a:t>
            </a:r>
            <a:r>
              <a:rPr sz="900" spc="-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유지 및 관리하여야 </a:t>
            </a:r>
            <a:r>
              <a:rPr sz="900" spc="-25" dirty="0">
                <a:latin typeface="Malgun Gothic"/>
                <a:cs typeface="Malgun Gothic"/>
              </a:rPr>
              <a:t>한다.</a:t>
            </a:r>
            <a:endParaRPr sz="9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900" dirty="0">
              <a:latin typeface="Malgun Gothic"/>
              <a:cs typeface="Malgun Gothic"/>
            </a:endParaRPr>
          </a:p>
          <a:p>
            <a:pPr marL="34290">
              <a:lnSpc>
                <a:spcPct val="100000"/>
              </a:lnSpc>
            </a:pPr>
            <a:r>
              <a:rPr sz="1000" b="1" dirty="0">
                <a:latin typeface="Malgun Gothic"/>
                <a:cs typeface="Malgun Gothic"/>
              </a:rPr>
              <a:t>상기 조건이 행하여지는 경우에 본 보증서는 효력을 </a:t>
            </a:r>
            <a:r>
              <a:rPr sz="1000" b="1" spc="-20" dirty="0">
                <a:latin typeface="Malgun Gothic"/>
                <a:cs typeface="Malgun Gothic"/>
              </a:rPr>
              <a:t>지닌다.</a:t>
            </a:r>
            <a:endParaRPr sz="10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258</Words>
  <Application>Microsoft Office PowerPoint</Application>
  <PresentationFormat>사용자 지정</PresentationFormat>
  <Paragraphs>97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Theme</vt:lpstr>
      <vt:lpstr>ADP TOP I435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ADP TOP I435</dc:title>
  <cp:lastModifiedBy>SEAH</cp:lastModifiedBy>
  <cp:revision>1</cp:revision>
  <dcterms:created xsi:type="dcterms:W3CDTF">2026-05-12T07:48:27Z</dcterms:created>
  <dcterms:modified xsi:type="dcterms:W3CDTF">2026-06-24T08:09:53Z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2026-05-12T00:00:00Z</vt:filetime>
  </property>
  <property fmtid="{D5CDD505-2E9C-101B-9397-08002B2CF9AE}" pid="3" name="LastSaved">
    <vt:filetime>2026-05-12T00:00:00Z</vt:filetime>
  </property>
  <property fmtid="{D5CDD505-2E9C-101B-9397-08002B2CF9AE}" pid="4" name="Producer">
    <vt:lpwstr>Developer Express Inc. DXperience (tm) v20.2.6</vt:lpwstr>
  </property>
</Properties>
</file>