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92" y="13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0"/>
            <a:ext cx="7199999" cy="10497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831" y="0"/>
            <a:ext cx="7199999" cy="10525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5372" y="4619929"/>
            <a:ext cx="244411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0441" y="4186211"/>
            <a:ext cx="2762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b="1" spc="-25" dirty="0" smtClean="0">
                <a:solidFill>
                  <a:srgbClr val="FF0000"/>
                </a:solidFill>
                <a:latin typeface="Malgun Gothic"/>
                <a:cs typeface="Malgun Gothic"/>
              </a:rPr>
              <a:t>20</a:t>
            </a:r>
            <a:endParaRPr sz="1700" dirty="0">
              <a:solidFill>
                <a:srgbClr val="FF0000"/>
              </a:solidFill>
              <a:latin typeface="Malgun Gothic"/>
              <a:cs typeface="Malgun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PVDF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TOP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K012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7450" y="1133475"/>
            <a:ext cx="5349875" cy="8769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900" dirty="0">
                <a:latin typeface="Malgun Gothic"/>
                <a:cs typeface="Malgun Gothic"/>
              </a:rPr>
              <a:t>본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보증서는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PVDF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TOP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코팅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방식으로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도장된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컬러강판에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 err="1">
                <a:latin typeface="Malgun Gothic"/>
                <a:cs typeface="Malgun Gothic"/>
              </a:rPr>
              <a:t>대하여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2</a:t>
            </a:r>
            <a:r>
              <a:rPr lang="en-US"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0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년</a:t>
            </a:r>
            <a:r>
              <a:rPr sz="900" spc="-5" dirty="0" smtClean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동안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유효하며,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아래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항목에 </a:t>
            </a:r>
            <a:r>
              <a:rPr sz="900" dirty="0">
                <a:latin typeface="Malgun Gothic"/>
                <a:cs typeface="Malgun Gothic"/>
              </a:rPr>
              <a:t>대하여만 </a:t>
            </a:r>
            <a:r>
              <a:rPr sz="900" spc="-10" dirty="0">
                <a:latin typeface="Malgun Gothic"/>
                <a:cs typeface="Malgun Gothic"/>
              </a:rPr>
              <a:t>적용된다.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dirty="0">
                <a:latin typeface="Malgun Gothic"/>
                <a:cs typeface="Malgun Gothic"/>
              </a:rPr>
              <a:t>보증 </a:t>
            </a:r>
            <a:r>
              <a:rPr sz="900" b="1" spc="-25" dirty="0">
                <a:latin typeface="Malgun Gothic"/>
                <a:cs typeface="Malgun Gothic"/>
              </a:rPr>
              <a:t>항목</a:t>
            </a:r>
            <a:endParaRPr sz="9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900" dirty="0">
                <a:latin typeface="Malgun Gothic"/>
                <a:cs typeface="Malgun Gothic"/>
              </a:rPr>
              <a:t>본 보증서는 아래 제시된 조건하에 도막에 대하여 효력을 </a:t>
            </a:r>
            <a:r>
              <a:rPr sz="900" spc="-20" dirty="0" err="1">
                <a:latin typeface="Malgun Gothic"/>
                <a:cs typeface="Malgun Gothic"/>
              </a:rPr>
              <a:t>가진다</a:t>
            </a:r>
            <a:r>
              <a:rPr sz="900" spc="-20" dirty="0" smtClean="0">
                <a:latin typeface="Malgun Gothic"/>
                <a:cs typeface="Malgun Gothic"/>
              </a:rPr>
              <a:t>.</a:t>
            </a:r>
            <a:endParaRPr sz="900" dirty="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369" y="2477421"/>
            <a:ext cx="5680710" cy="311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 indent="-1352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47955" algn="l"/>
              </a:tabLst>
            </a:pPr>
            <a:r>
              <a:rPr sz="900" b="1" spc="-20" dirty="0">
                <a:latin typeface="Malgun Gothic"/>
                <a:cs typeface="Malgun Gothic"/>
              </a:rPr>
              <a:t>소재천공</a:t>
            </a:r>
            <a:endParaRPr sz="900" dirty="0">
              <a:latin typeface="Malgun Gothic"/>
              <a:cs typeface="Malgun Gothic"/>
            </a:endParaRPr>
          </a:p>
          <a:p>
            <a:pPr marL="161290">
              <a:lnSpc>
                <a:spcPct val="100000"/>
              </a:lnSpc>
              <a:spcBef>
                <a:spcPts val="905"/>
              </a:spcBef>
            </a:pPr>
            <a:r>
              <a:rPr sz="900" dirty="0">
                <a:latin typeface="Malgun Gothic"/>
                <a:cs typeface="Malgun Gothic"/>
              </a:rPr>
              <a:t>도장된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PVDF</a:t>
            </a:r>
            <a:r>
              <a:rPr sz="900" dirty="0">
                <a:latin typeface="Malgun Gothic"/>
                <a:cs typeface="Malgun Gothic"/>
              </a:rPr>
              <a:t>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설치 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2</a:t>
            </a:r>
            <a:r>
              <a:rPr lang="en-US"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0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년</a:t>
            </a:r>
            <a:r>
              <a:rPr sz="900" dirty="0" smtClean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동안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녹에 의한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천공이 없음을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보증한다.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47955" indent="-13525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47955" algn="l"/>
              </a:tabLst>
            </a:pPr>
            <a:r>
              <a:rPr sz="900" b="1" dirty="0">
                <a:latin typeface="Malgun Gothic"/>
                <a:cs typeface="Malgun Gothic"/>
              </a:rPr>
              <a:t>도장 강판 표면의 균열이나 </a:t>
            </a:r>
            <a:r>
              <a:rPr sz="900" b="1" spc="-25" dirty="0">
                <a:latin typeface="Malgun Gothic"/>
                <a:cs typeface="Malgun Gothic"/>
              </a:rPr>
              <a:t>박리</a:t>
            </a:r>
            <a:endParaRPr sz="900" dirty="0">
              <a:latin typeface="Malgun Gothic"/>
              <a:cs typeface="Malgun Gothic"/>
            </a:endParaRPr>
          </a:p>
          <a:p>
            <a:pPr marL="161290" marR="137160">
              <a:lnSpc>
                <a:spcPct val="110800"/>
              </a:lnSpc>
              <a:spcBef>
                <a:spcPts val="465"/>
              </a:spcBef>
            </a:pPr>
            <a:r>
              <a:rPr sz="900" dirty="0">
                <a:latin typeface="Malgun Gothic"/>
                <a:cs typeface="Malgun Gothic"/>
              </a:rPr>
              <a:t>결함은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2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미터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거리에서 육안으로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확인한다.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롤포밍이나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시트포밍에 의한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잔금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또는 균열은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보증대상에서 제외된다.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47955" indent="-135255">
              <a:lnSpc>
                <a:spcPct val="100000"/>
              </a:lnSpc>
              <a:buAutoNum type="arabicPeriod" startAt="3"/>
              <a:tabLst>
                <a:tab pos="147955" algn="l"/>
              </a:tabLst>
            </a:pPr>
            <a:r>
              <a:rPr sz="900" b="1" dirty="0">
                <a:latin typeface="Malgun Gothic"/>
                <a:cs typeface="Malgun Gothic"/>
              </a:rPr>
              <a:t>도막 백화 및 </a:t>
            </a:r>
            <a:r>
              <a:rPr sz="900" b="1" spc="-25" dirty="0">
                <a:latin typeface="Malgun Gothic"/>
                <a:cs typeface="Malgun Gothic"/>
              </a:rPr>
              <a:t>변색</a:t>
            </a:r>
            <a:endParaRPr sz="900" dirty="0">
              <a:latin typeface="Malgun Gothic"/>
              <a:cs typeface="Malgun Gothic"/>
            </a:endParaRPr>
          </a:p>
          <a:p>
            <a:pPr marL="161290" marR="5080">
              <a:lnSpc>
                <a:spcPct val="110800"/>
              </a:lnSpc>
              <a:spcBef>
                <a:spcPts val="470"/>
              </a:spcBef>
            </a:pPr>
            <a:r>
              <a:rPr sz="900" dirty="0">
                <a:latin typeface="Malgun Gothic"/>
                <a:cs typeface="Malgun Gothic"/>
              </a:rPr>
              <a:t>백화현상은</a:t>
            </a:r>
            <a:r>
              <a:rPr sz="900" spc="29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3964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를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따르며,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3964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에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준하여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외부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오염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(먼지,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기름,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이물질,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산화된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도막 </a:t>
            </a:r>
            <a:r>
              <a:rPr sz="900" dirty="0">
                <a:latin typeface="Malgun Gothic"/>
                <a:cs typeface="Malgun Gothic"/>
              </a:rPr>
              <a:t>등)을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깨끗이 제거한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옥외 폭로된 도막에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대하여 ASTM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D2244-</a:t>
            </a:r>
            <a:r>
              <a:rPr sz="900" dirty="0">
                <a:latin typeface="Malgun Gothic"/>
                <a:cs typeface="Malgun Gothic"/>
              </a:rPr>
              <a:t>93 방법으로 측정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하였을 때,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보증된 </a:t>
            </a:r>
            <a:r>
              <a:rPr sz="900" spc="-25" dirty="0">
                <a:latin typeface="Malgun Gothic"/>
                <a:cs typeface="Malgun Gothic"/>
              </a:rPr>
              <a:t>수치를 </a:t>
            </a:r>
            <a:r>
              <a:rPr sz="900" dirty="0">
                <a:latin typeface="Malgun Gothic"/>
                <a:cs typeface="Malgun Gothic"/>
              </a:rPr>
              <a:t>초과하지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아니한다.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태양과 인자에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동등하게 노출되지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않은 표면은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백화 및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변색이 균일하지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않을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수 </a:t>
            </a:r>
            <a:r>
              <a:rPr sz="900" spc="-25" dirty="0">
                <a:latin typeface="Malgun Gothic"/>
                <a:cs typeface="Malgun Gothic"/>
              </a:rPr>
              <a:t>있음을 </a:t>
            </a:r>
            <a:r>
              <a:rPr sz="900" spc="-10" dirty="0">
                <a:latin typeface="Malgun Gothic"/>
                <a:cs typeface="Malgun Gothic"/>
              </a:rPr>
              <a:t>고려한다.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47955" indent="-135255">
              <a:lnSpc>
                <a:spcPct val="100000"/>
              </a:lnSpc>
              <a:buAutoNum type="arabicPeriod" startAt="4"/>
              <a:tabLst>
                <a:tab pos="147955" algn="l"/>
              </a:tabLst>
            </a:pPr>
            <a:r>
              <a:rPr sz="900" b="1" spc="-25" dirty="0">
                <a:latin typeface="Malgun Gothic"/>
                <a:cs typeface="Malgun Gothic"/>
              </a:rPr>
              <a:t>백화</a:t>
            </a:r>
            <a:endParaRPr sz="900" dirty="0">
              <a:latin typeface="Malgun Gothic"/>
              <a:cs typeface="Malgun Gothic"/>
            </a:endParaRPr>
          </a:p>
          <a:p>
            <a:pPr marL="161290" marR="151130">
              <a:lnSpc>
                <a:spcPct val="110800"/>
              </a:lnSpc>
              <a:spcBef>
                <a:spcPts val="470"/>
              </a:spcBef>
            </a:pP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3964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에 따라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표면에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묻은 이물질과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먼지를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제거한 후,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깨끗한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표면 상에서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 </a:t>
            </a:r>
            <a:r>
              <a:rPr sz="900" spc="-10" dirty="0">
                <a:latin typeface="Malgun Gothic"/>
                <a:cs typeface="Malgun Gothic"/>
              </a:rPr>
              <a:t>4214-</a:t>
            </a:r>
            <a:r>
              <a:rPr sz="900" dirty="0">
                <a:latin typeface="Malgun Gothic"/>
                <a:cs typeface="Malgun Gothic"/>
              </a:rPr>
              <a:t>89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50" dirty="0">
                <a:latin typeface="Malgun Gothic"/>
                <a:cs typeface="Malgun Gothic"/>
              </a:rPr>
              <a:t>에 </a:t>
            </a:r>
            <a:r>
              <a:rPr sz="900" dirty="0">
                <a:latin typeface="Malgun Gothic"/>
                <a:cs typeface="Malgun Gothic"/>
              </a:rPr>
              <a:t>규정된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기준 절차에 상응하여 측정될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때, 쵸킹은 보증된 수치를 초과하지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않는다.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47955" indent="-135255">
              <a:lnSpc>
                <a:spcPct val="100000"/>
              </a:lnSpc>
              <a:buAutoNum type="arabicPeriod" startAt="5"/>
              <a:tabLst>
                <a:tab pos="147955" algn="l"/>
              </a:tabLst>
            </a:pPr>
            <a:r>
              <a:rPr lang="ko-KR" altLang="en-US" sz="900" b="1" dirty="0" smtClean="0">
                <a:latin typeface="Malgun Gothic"/>
                <a:cs typeface="Malgun Gothic"/>
              </a:rPr>
              <a:t>보증 내용</a:t>
            </a:r>
            <a:r>
              <a:rPr lang="en-US" altLang="ko-KR" sz="900" b="1" dirty="0" smtClean="0">
                <a:latin typeface="Malgun Gothic"/>
                <a:cs typeface="Malgun Gothic"/>
              </a:rPr>
              <a:t>	</a:t>
            </a:r>
            <a:endParaRPr sz="900" dirty="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043802"/>
              </p:ext>
            </p:extLst>
          </p:nvPr>
        </p:nvGraphicFramePr>
        <p:xfrm>
          <a:off x="1258662" y="5958824"/>
          <a:ext cx="5549262" cy="2220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350"/>
                <a:gridCol w="1052195"/>
                <a:gridCol w="900430"/>
                <a:gridCol w="900429"/>
                <a:gridCol w="900429"/>
                <a:gridCol w="900429"/>
              </a:tblGrid>
              <a:tr h="3956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1987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설치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지역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패널의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용도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보증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기간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956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Malgun Gothic"/>
                          <a:cs typeface="Malgun Gothic"/>
                        </a:rPr>
                        <a:t>천공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 marR="250190" indent="-77470">
                        <a:lnSpc>
                          <a:spcPct val="110800"/>
                        </a:lnSpc>
                        <a:spcBef>
                          <a:spcPts val="32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박리 </a:t>
                      </a:r>
                      <a:r>
                        <a:rPr sz="900" spc="-50" dirty="0">
                          <a:latin typeface="Malgun Gothic"/>
                          <a:cs typeface="Malgun Gothic"/>
                        </a:rPr>
                        <a:t>및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균열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Malgun Gothic"/>
                          <a:cs typeface="Malgun Gothic"/>
                        </a:rPr>
                        <a:t>변색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Malgun Gothic"/>
                          <a:cs typeface="Malgun Gothic"/>
                        </a:rPr>
                        <a:t>백화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945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61925" marR="154940" indent="44450" algn="just">
                        <a:lnSpc>
                          <a:spcPct val="1108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주거지역, 상업지역, 경공업지역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6545" marR="288925" indent="57150">
                        <a:lnSpc>
                          <a:spcPct val="1108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900" spc="-25" dirty="0" err="1" smtClean="0">
                          <a:latin typeface="Malgun Gothic"/>
                          <a:cs typeface="Malgun Gothic"/>
                        </a:rPr>
                        <a:t>지붕재</a:t>
                      </a:r>
                      <a:r>
                        <a:rPr lang="ko-KR" altLang="en-US" sz="900" spc="500" dirty="0" smtClean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en-US" altLang="ko-KR" sz="900" dirty="0" smtClean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lang="ko-KR" altLang="en-US" sz="900" spc="-5" dirty="0" smtClean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 smtClean="0">
                          <a:latin typeface="Malgun Gothic"/>
                          <a:cs typeface="Malgun Gothic"/>
                        </a:rPr>
                        <a:t>해안 </a:t>
                      </a:r>
                      <a:r>
                        <a:rPr lang="ko-KR" altLang="en-US" sz="900" spc="-50" dirty="0" smtClean="0">
                          <a:latin typeface="Malgun Gothic"/>
                          <a:cs typeface="Malgun Gothic"/>
                        </a:rPr>
                        <a:t>및</a:t>
                      </a:r>
                      <a:endParaRPr lang="ko-KR" altLang="en-US" sz="900" dirty="0" smtClean="0">
                        <a:latin typeface="Malgun Gothic"/>
                        <a:cs typeface="Malgun Gothic"/>
                      </a:endParaRPr>
                    </a:p>
                    <a:p>
                      <a:pPr marL="104775" marR="43815" indent="-53340">
                        <a:lnSpc>
                          <a:spcPct val="110800"/>
                        </a:lnSpc>
                      </a:pPr>
                      <a:r>
                        <a:rPr lang="ko-KR" altLang="en-US" sz="900" dirty="0" smtClean="0">
                          <a:latin typeface="Malgun Gothic"/>
                          <a:cs typeface="Malgun Gothic"/>
                        </a:rPr>
                        <a:t>공업지대에서 </a:t>
                      </a:r>
                      <a:r>
                        <a:rPr lang="en-US" altLang="ko-KR" sz="900" spc="-25" dirty="0" smtClean="0">
                          <a:latin typeface="Malgun Gothic"/>
                          <a:cs typeface="Malgun Gothic"/>
                        </a:rPr>
                        <a:t>1km </a:t>
                      </a:r>
                      <a:r>
                        <a:rPr lang="ko-KR" altLang="en-US" sz="900" dirty="0" smtClean="0">
                          <a:latin typeface="Malgun Gothic"/>
                          <a:cs typeface="Malgun Gothic"/>
                        </a:rPr>
                        <a:t>이상 떨어진 곳 </a:t>
                      </a:r>
                      <a:r>
                        <a:rPr lang="en-US" altLang="ko-KR" sz="900" spc="-50" dirty="0" smtClean="0">
                          <a:latin typeface="Malgun Gothic"/>
                          <a:cs typeface="Malgun Gothic"/>
                        </a:rPr>
                        <a:t>)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lang="en-US" sz="90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900" spc="-1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9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94640" marR="287020" indent="15875">
                        <a:lnSpc>
                          <a:spcPct val="110800"/>
                        </a:lnSpc>
                      </a:pPr>
                      <a:r>
                        <a:rPr sz="900" spc="-2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≤ΔE5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(20년)</a:t>
                      </a:r>
                      <a:endParaRPr sz="90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9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94640" marR="287020" indent="48260">
                        <a:lnSpc>
                          <a:spcPct val="110800"/>
                        </a:lnSpc>
                      </a:pPr>
                      <a:r>
                        <a:rPr sz="900" spc="-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≥#8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(20년)</a:t>
                      </a:r>
                      <a:endParaRPr sz="90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99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ko-KR" altLang="en-US" sz="900" spc="-25" dirty="0" smtClean="0">
                          <a:latin typeface="Malgun Gothic"/>
                          <a:cs typeface="Malgun Gothic"/>
                        </a:rPr>
                        <a:t>벽체</a:t>
                      </a:r>
                      <a:endParaRPr lang="ko-KR" altLang="en-US" sz="900" dirty="0" smtClean="0">
                        <a:latin typeface="Malgun Gothic"/>
                        <a:cs typeface="Malgun Gothic"/>
                      </a:endParaRPr>
                    </a:p>
                    <a:p>
                      <a:pPr marL="52069" marR="43815" indent="-635" algn="ctr">
                        <a:lnSpc>
                          <a:spcPct val="110800"/>
                        </a:lnSpc>
                      </a:pPr>
                      <a:r>
                        <a:rPr lang="en-US" altLang="ko-KR" sz="900" dirty="0" smtClean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lang="ko-KR" altLang="en-US" sz="900" spc="-5" dirty="0" smtClean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 smtClean="0">
                          <a:latin typeface="Malgun Gothic"/>
                          <a:cs typeface="Malgun Gothic"/>
                        </a:rPr>
                        <a:t>해안 </a:t>
                      </a:r>
                      <a:r>
                        <a:rPr lang="ko-KR" altLang="en-US" sz="900" spc="-50" dirty="0" smtClean="0">
                          <a:latin typeface="Malgun Gothic"/>
                          <a:cs typeface="Malgun Gothic"/>
                        </a:rPr>
                        <a:t>및 </a:t>
                      </a:r>
                      <a:r>
                        <a:rPr lang="ko-KR" altLang="en-US" sz="900" dirty="0" smtClean="0">
                          <a:latin typeface="Malgun Gothic"/>
                          <a:cs typeface="Malgun Gothic"/>
                        </a:rPr>
                        <a:t>공업지대에서 </a:t>
                      </a:r>
                      <a:r>
                        <a:rPr lang="en-US" altLang="ko-KR" sz="900" spc="-25" dirty="0" smtClean="0">
                          <a:latin typeface="Malgun Gothic"/>
                          <a:cs typeface="Malgun Gothic"/>
                        </a:rPr>
                        <a:t>1km </a:t>
                      </a:r>
                      <a:r>
                        <a:rPr lang="ko-KR" altLang="en-US" sz="900" dirty="0" smtClean="0">
                          <a:latin typeface="Malgun Gothic"/>
                          <a:cs typeface="Malgun Gothic"/>
                        </a:rPr>
                        <a:t>이상 떨어진 곳 </a:t>
                      </a:r>
                      <a:r>
                        <a:rPr lang="en-US" altLang="ko-KR" sz="900" spc="-50" dirty="0" smtClean="0">
                          <a:latin typeface="Malgun Gothic"/>
                          <a:cs typeface="Malgun Gothic"/>
                        </a:rPr>
                        <a:t>)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lang="en-US" sz="90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900" spc="-1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94640" marR="287020" indent="15875">
                        <a:lnSpc>
                          <a:spcPct val="110800"/>
                        </a:lnSpc>
                      </a:pPr>
                      <a:r>
                        <a:rPr sz="900" spc="-2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≤ΔE5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(20년)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94640" marR="287020" indent="48260">
                        <a:lnSpc>
                          <a:spcPct val="110800"/>
                        </a:lnSpc>
                      </a:pPr>
                      <a:r>
                        <a:rPr sz="900" spc="-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≥#8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(20년)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69" y="1181765"/>
            <a:ext cx="5687060" cy="601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Malgun Gothic"/>
                <a:cs typeface="Malgun Gothic"/>
              </a:rPr>
              <a:t>보증은 다음 항목과 조건에 제약을 </a:t>
            </a:r>
            <a:r>
              <a:rPr sz="900" b="1" spc="-20" dirty="0">
                <a:latin typeface="Malgun Gothic"/>
                <a:cs typeface="Malgun Gothic"/>
              </a:rPr>
              <a:t>받는다.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본 보증서는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베트남</a:t>
            </a:r>
            <a:r>
              <a:rPr sz="900" dirty="0">
                <a:latin typeface="Malgun Gothic"/>
                <a:cs typeface="Malgun Gothic"/>
              </a:rPr>
              <a:t>에 설치된 건물에 건재용으로 사용된 컬러강판에 </a:t>
            </a:r>
            <a:r>
              <a:rPr sz="900" spc="-10" dirty="0">
                <a:latin typeface="Malgun Gothic"/>
                <a:cs typeface="Malgun Gothic"/>
              </a:rPr>
              <a:t>제한된다.</a:t>
            </a:r>
            <a:endParaRPr sz="900" dirty="0">
              <a:latin typeface="Malgun Gothic"/>
              <a:cs typeface="Malgun Gothic"/>
            </a:endParaRPr>
          </a:p>
          <a:p>
            <a:pPr marL="201930" marR="130810" indent="-123189">
              <a:lnSpc>
                <a:spcPct val="110800"/>
              </a:lnSpc>
              <a:spcBef>
                <a:spcPts val="1355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본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보증서는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2COAT</a:t>
            </a:r>
            <a:r>
              <a:rPr sz="900" spc="-5" dirty="0">
                <a:solidFill>
                  <a:srgbClr val="FF0000"/>
                </a:solidFill>
                <a:latin typeface="Malgun Gothic"/>
                <a:cs typeface="Malgun Gothic"/>
              </a:rPr>
              <a:t>,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2BAKE</a:t>
            </a:r>
            <a:r>
              <a:rPr sz="900" spc="-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도장방식으로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전체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도막두께는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TOP면(PRIMER+BASE)이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25</a:t>
            </a:r>
            <a:r>
              <a:rPr sz="900" spc="-10" dirty="0">
                <a:latin typeface="Malgun Gothic"/>
                <a:cs typeface="Malgun Gothic"/>
              </a:rPr>
              <a:t>(±2)㎛ </a:t>
            </a:r>
            <a:r>
              <a:rPr sz="900" dirty="0">
                <a:latin typeface="Malgun Gothic"/>
                <a:cs typeface="Malgun Gothic"/>
              </a:rPr>
              <a:t>이고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하도 	</a:t>
            </a:r>
            <a:r>
              <a:rPr sz="900" dirty="0">
                <a:latin typeface="Malgun Gothic"/>
                <a:cs typeface="Malgun Gothic"/>
              </a:rPr>
              <a:t>도막두께는</a:t>
            </a:r>
            <a:r>
              <a:rPr sz="900" spc="20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5</a:t>
            </a:r>
            <a:r>
              <a:rPr sz="900" spc="-10" dirty="0">
                <a:latin typeface="Malgun Gothic"/>
                <a:cs typeface="Malgun Gothic"/>
              </a:rPr>
              <a:t>(±1)㎛</a:t>
            </a:r>
            <a:r>
              <a:rPr sz="900" spc="-25" dirty="0">
                <a:latin typeface="Malgun Gothic"/>
                <a:cs typeface="Malgun Gothic"/>
              </a:rPr>
              <a:t>이다.</a:t>
            </a:r>
            <a:endParaRPr sz="900" dirty="0">
              <a:latin typeface="Malgun Gothic"/>
              <a:cs typeface="Malgun Gothic"/>
            </a:endParaRPr>
          </a:p>
          <a:p>
            <a:pPr marL="201930" marR="104775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공급된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PVDF</a:t>
            </a:r>
            <a:r>
              <a:rPr sz="900" spc="-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TOP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컬러강판의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도장에서는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어떤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공정에서든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스크래치,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마모,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손상이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없어야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하고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부적절한 	</a:t>
            </a:r>
            <a:r>
              <a:rPr sz="900" dirty="0">
                <a:latin typeface="Malgun Gothic"/>
                <a:cs typeface="Malgun Gothic"/>
              </a:rPr>
              <a:t>물질과 함께 도장되어서는 </a:t>
            </a:r>
            <a:r>
              <a:rPr sz="900" spc="-20" dirty="0">
                <a:latin typeface="Malgun Gothic"/>
                <a:cs typeface="Malgun Gothic"/>
              </a:rPr>
              <a:t>안된다.</a:t>
            </a:r>
            <a:endParaRPr sz="900" dirty="0">
              <a:latin typeface="Malgun Gothic"/>
              <a:cs typeface="Malgun Gothic"/>
            </a:endParaRPr>
          </a:p>
          <a:p>
            <a:pPr marL="201930" marR="403860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노출된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지역이나 빗물에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의하여 씻겨지지 않는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지역은 최소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6 개월마다 세척이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되어야 한다. </a:t>
            </a:r>
            <a:r>
              <a:rPr sz="900" spc="-25" dirty="0">
                <a:latin typeface="Malgun Gothic"/>
                <a:cs typeface="Malgun Gothic"/>
              </a:rPr>
              <a:t>세척이 	</a:t>
            </a:r>
            <a:r>
              <a:rPr sz="900" dirty="0">
                <a:latin typeface="Malgun Gothic"/>
                <a:cs typeface="Malgun Gothic"/>
              </a:rPr>
              <a:t>되어있지 않음으로 발생하는 녹은 보증사항에서 </a:t>
            </a:r>
            <a:r>
              <a:rPr sz="900" spc="-10" dirty="0">
                <a:latin typeface="Malgun Gothic"/>
                <a:cs typeface="Malgun Gothic"/>
              </a:rPr>
              <a:t>제외된다.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115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본 보증서의 변색과 백화는 유색에 대하여 적용되지 </a:t>
            </a:r>
            <a:r>
              <a:rPr sz="900" spc="-10" dirty="0">
                <a:latin typeface="Malgun Gothic"/>
                <a:cs typeface="Malgun Gothic"/>
              </a:rPr>
              <a:t>아니한다.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공급된 제품은 어느 시기라도 부적절한 물질과 접촉되어서는 안 </a:t>
            </a:r>
            <a:r>
              <a:rPr sz="900" spc="-25" dirty="0">
                <a:latin typeface="Malgun Gothic"/>
                <a:cs typeface="Malgun Gothic"/>
              </a:rPr>
              <a:t>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후도장 된 제품은 보증에 포함되지 </a:t>
            </a:r>
            <a:r>
              <a:rPr sz="900" spc="-20" dirty="0">
                <a:latin typeface="Malgun Gothic"/>
                <a:cs typeface="Malgun Gothic"/>
              </a:rPr>
              <a:t>않는다.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marR="327660" indent="-123189">
              <a:lnSpc>
                <a:spcPct val="110800"/>
              </a:lnSpc>
              <a:spcBef>
                <a:spcPts val="5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빗물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장치나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잠금 장치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등과 같은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강판에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고정된 모든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부분은 세아씨엠에서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입증된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아연도금, </a:t>
            </a:r>
            <a:r>
              <a:rPr sz="900" spc="-20" dirty="0">
                <a:latin typeface="Malgun Gothic"/>
                <a:cs typeface="Malgun Gothic"/>
              </a:rPr>
              <a:t>갈바륨, 	</a:t>
            </a:r>
            <a:r>
              <a:rPr sz="900" dirty="0">
                <a:latin typeface="Malgun Gothic"/>
                <a:cs typeface="Malgun Gothic"/>
              </a:rPr>
              <a:t>알루미늄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소재에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PVDF</a:t>
            </a:r>
            <a:r>
              <a:rPr sz="900" dirty="0">
                <a:latin typeface="Malgun Gothic"/>
                <a:cs typeface="Malgun Gothic"/>
              </a:rPr>
              <a:t>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도장된 면에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설치 되어야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115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지붕의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피치(Pitch)는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수평으로부터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5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이상으로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설치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되어야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지붕은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완전히 선형이어야 하고,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노출된 처마나 빗물에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의해 씻겨지지 않는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은폐된 곳은 포함되지 </a:t>
            </a:r>
            <a:r>
              <a:rPr sz="900" spc="-20" dirty="0">
                <a:latin typeface="Malgun Gothic"/>
                <a:cs typeface="Malgun Gothic"/>
              </a:rPr>
              <a:t>않는다.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벽면은 건축 도중이나 일반적 노출 상태에서 콘크리트 거푸집으로의 사용이나 침적이 되지 않아야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벽체는 자연 빗물에 의한 씻김을 방해 받지 않아야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본 보증서는 다음 요인으로 야기된 결함을 보증하지 </a:t>
            </a:r>
            <a:r>
              <a:rPr sz="900" spc="-20" dirty="0">
                <a:latin typeface="Malgun Gothic"/>
                <a:cs typeface="Malgun Gothic"/>
              </a:rPr>
              <a:t>않는다.</a:t>
            </a:r>
            <a:endParaRPr sz="900" dirty="0">
              <a:latin typeface="Malgun Gothic"/>
              <a:cs typeface="Malgun Gothic"/>
            </a:endParaRPr>
          </a:p>
          <a:p>
            <a:pPr marL="392430" lvl="1" indent="-132715">
              <a:lnSpc>
                <a:spcPct val="100000"/>
              </a:lnSpc>
              <a:spcBef>
                <a:spcPts val="1130"/>
              </a:spcBef>
              <a:buAutoNum type="arabicParenR"/>
              <a:tabLst>
                <a:tab pos="392430" algn="l"/>
              </a:tabLst>
            </a:pPr>
            <a:r>
              <a:rPr sz="900" dirty="0">
                <a:latin typeface="Malgun Gothic"/>
                <a:cs typeface="Malgun Gothic"/>
              </a:rPr>
              <a:t>공정,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운송,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취급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설치의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부적절함으로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인하여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야기된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도막의 </a:t>
            </a:r>
            <a:r>
              <a:rPr sz="900" spc="-25" dirty="0">
                <a:latin typeface="Malgun Gothic"/>
                <a:cs typeface="Malgun Gothic"/>
              </a:rPr>
              <a:t>결함.</a:t>
            </a:r>
            <a:endParaRPr sz="900" dirty="0">
              <a:latin typeface="Malgun Gothic"/>
              <a:cs typeface="Malgun Gothic"/>
            </a:endParaRPr>
          </a:p>
          <a:p>
            <a:pPr marL="392430" lvl="1" indent="-132715">
              <a:lnSpc>
                <a:spcPct val="100000"/>
              </a:lnSpc>
              <a:spcBef>
                <a:spcPts val="905"/>
              </a:spcBef>
              <a:buAutoNum type="arabicParenR"/>
              <a:tabLst>
                <a:tab pos="392430" algn="l"/>
              </a:tabLst>
            </a:pPr>
            <a:r>
              <a:rPr sz="900" dirty="0">
                <a:latin typeface="Malgun Gothic"/>
                <a:cs typeface="Malgun Gothic"/>
              </a:rPr>
              <a:t>잘못된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디자인,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제조방법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및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설치에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의한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결함.</a:t>
            </a:r>
            <a:endParaRPr sz="900" dirty="0">
              <a:latin typeface="Malgun Gothic"/>
              <a:cs typeface="Malgun Gothic"/>
            </a:endParaRPr>
          </a:p>
          <a:p>
            <a:pPr marL="391795" marR="389255" lvl="1" indent="-132715">
              <a:lnSpc>
                <a:spcPct val="110800"/>
              </a:lnSpc>
              <a:spcBef>
                <a:spcPts val="785"/>
              </a:spcBef>
              <a:buAutoNum type="arabicParenR"/>
              <a:tabLst>
                <a:tab pos="393065" algn="l"/>
              </a:tabLst>
            </a:pPr>
            <a:r>
              <a:rPr sz="900" dirty="0">
                <a:latin typeface="Malgun Gothic"/>
                <a:cs typeface="Malgun Gothic"/>
              </a:rPr>
              <a:t>비정상적인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노출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: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가혹한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오염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혹독한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습한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지나치게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더운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지역, 화학제품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철강 	</a:t>
            </a:r>
            <a:r>
              <a:rPr sz="900" dirty="0">
                <a:latin typeface="Malgun Gothic"/>
                <a:cs typeface="Malgun Gothic"/>
              </a:rPr>
              <a:t>공업지대에 </a:t>
            </a:r>
            <a:r>
              <a:rPr sz="900" spc="-25" dirty="0">
                <a:latin typeface="Malgun Gothic"/>
                <a:cs typeface="Malgun Gothic"/>
              </a:rPr>
              <a:t>근접.</a:t>
            </a:r>
            <a:endParaRPr sz="900" dirty="0">
              <a:latin typeface="Malgun Gothic"/>
              <a:cs typeface="Malgun Gothic"/>
            </a:endParaRPr>
          </a:p>
          <a:p>
            <a:pPr marL="391795" marR="5080" lvl="1" indent="-132715">
              <a:lnSpc>
                <a:spcPct val="110800"/>
              </a:lnSpc>
              <a:spcBef>
                <a:spcPts val="150"/>
              </a:spcBef>
              <a:buAutoNum type="arabicParenR"/>
              <a:tabLst>
                <a:tab pos="393065" algn="l"/>
              </a:tabLst>
            </a:pPr>
            <a:r>
              <a:rPr sz="900" dirty="0">
                <a:latin typeface="Malgun Gothic"/>
                <a:cs typeface="Malgun Gothic"/>
              </a:rPr>
              <a:t>콘크리트,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몰타르,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토양,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재,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비료,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습기를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머금은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물질,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납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또는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구리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그리고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다른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유사한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금속,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구리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성분 	</a:t>
            </a:r>
            <a:r>
              <a:rPr sz="900" dirty="0">
                <a:latin typeface="Malgun Gothic"/>
                <a:cs typeface="Malgun Gothic"/>
              </a:rPr>
              <a:t>지붕과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벽의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접촉면의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액체,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구리 파이프,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숲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젖은 목재나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처리된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목재로부터의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액체와 </a:t>
            </a:r>
            <a:r>
              <a:rPr sz="900" spc="-20" dirty="0">
                <a:latin typeface="Malgun Gothic"/>
                <a:cs typeface="Malgun Gothic"/>
              </a:rPr>
              <a:t>접촉하는 	</a:t>
            </a:r>
            <a:r>
              <a:rPr sz="900" spc="-25" dirty="0">
                <a:latin typeface="Malgun Gothic"/>
                <a:cs typeface="Malgun Gothic"/>
              </a:rPr>
              <a:t>경우.</a:t>
            </a:r>
            <a:endParaRPr sz="9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0"/>
            <a:ext cx="7199999" cy="104965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3098" y="1275308"/>
            <a:ext cx="5732145" cy="3673442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4020" indent="-132715">
              <a:lnSpc>
                <a:spcPct val="100000"/>
              </a:lnSpc>
              <a:spcBef>
                <a:spcPts val="215"/>
              </a:spcBef>
              <a:buAutoNum type="arabicParenR" startAt="5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지붕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위에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직접적으로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떨어져 흐르는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빗물보다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더한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화학적이나 다른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행위,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증기, </a:t>
            </a:r>
            <a:r>
              <a:rPr sz="900" spc="-20" dirty="0" err="1" smtClean="0">
                <a:latin typeface="Malgun Gothic"/>
                <a:cs typeface="Malgun Gothic"/>
              </a:rPr>
              <a:t>액상이나</a:t>
            </a:r>
            <a:endParaRPr lang="en-US" sz="900" dirty="0">
              <a:latin typeface="Malgun Gothic"/>
              <a:cs typeface="Malgun Gothic"/>
            </a:endParaRPr>
          </a:p>
          <a:p>
            <a:pPr marL="281305">
              <a:lnSpc>
                <a:spcPct val="100000"/>
              </a:lnSpc>
              <a:spcBef>
                <a:spcPts val="215"/>
              </a:spcBef>
              <a:tabLst>
                <a:tab pos="414020" algn="l"/>
              </a:tabLst>
            </a:pPr>
            <a:r>
              <a:rPr lang="en-US" sz="900" dirty="0">
                <a:latin typeface="Malgun Gothic"/>
                <a:cs typeface="Malgun Gothic"/>
              </a:rPr>
              <a:t> </a:t>
            </a:r>
            <a:r>
              <a:rPr lang="en-US" sz="900" dirty="0" smtClean="0">
                <a:latin typeface="Malgun Gothic"/>
                <a:cs typeface="Malgun Gothic"/>
              </a:rPr>
              <a:t>  </a:t>
            </a:r>
            <a:r>
              <a:rPr sz="900" dirty="0" err="1" smtClean="0">
                <a:latin typeface="Malgun Gothic"/>
                <a:cs typeface="Malgun Gothic"/>
              </a:rPr>
              <a:t>고상으로부터의</a:t>
            </a:r>
            <a:r>
              <a:rPr sz="900" dirty="0" smtClean="0">
                <a:latin typeface="Malgun Gothic"/>
                <a:cs typeface="Malgun Gothic"/>
              </a:rPr>
              <a:t> </a:t>
            </a:r>
            <a:r>
              <a:rPr sz="900" spc="-25" dirty="0" err="1">
                <a:latin typeface="Malgun Gothic"/>
                <a:cs typeface="Malgun Gothic"/>
              </a:rPr>
              <a:t>침투</a:t>
            </a:r>
            <a:r>
              <a:rPr sz="900" spc="-25" dirty="0" smtClean="0">
                <a:latin typeface="Malgun Gothic"/>
                <a:cs typeface="Malgun Gothic"/>
              </a:rPr>
              <a:t>.</a:t>
            </a:r>
            <a:endParaRPr lang="en-US" sz="900" spc="-25" dirty="0" smtClean="0">
              <a:latin typeface="Malgun Gothic"/>
              <a:cs typeface="Malgun Gothic"/>
            </a:endParaRPr>
          </a:p>
          <a:p>
            <a:pPr marL="281305">
              <a:lnSpc>
                <a:spcPct val="100000"/>
              </a:lnSpc>
              <a:spcBef>
                <a:spcPts val="215"/>
              </a:spcBef>
              <a:tabLst>
                <a:tab pos="414020" algn="l"/>
              </a:tabLst>
            </a:pPr>
            <a:endParaRPr lang="en-US" sz="900" dirty="0">
              <a:latin typeface="Malgun Gothic"/>
              <a:cs typeface="Malgun Gothic"/>
            </a:endParaRPr>
          </a:p>
          <a:p>
            <a:pPr marL="281305">
              <a:lnSpc>
                <a:spcPct val="100000"/>
              </a:lnSpc>
              <a:spcBef>
                <a:spcPts val="215"/>
              </a:spcBef>
              <a:tabLst>
                <a:tab pos="414020" algn="l"/>
              </a:tabLst>
            </a:pPr>
            <a:r>
              <a:rPr lang="en-US" sz="900" dirty="0" smtClean="0">
                <a:latin typeface="Malgun Gothic"/>
                <a:cs typeface="Malgun Gothic"/>
              </a:rPr>
              <a:t>6) </a:t>
            </a:r>
            <a:r>
              <a:rPr sz="900" dirty="0" err="1" smtClean="0">
                <a:latin typeface="Malgun Gothic"/>
                <a:cs typeface="Malgun Gothic"/>
              </a:rPr>
              <a:t>다른</a:t>
            </a:r>
            <a:r>
              <a:rPr sz="900" spc="-5" dirty="0" smtClean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퇴적물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제거의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실패 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제품의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모든 표면으로부터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내부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표면을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포함하여 배수(응축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포함)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실패.</a:t>
            </a:r>
            <a:endParaRPr sz="900" dirty="0">
              <a:latin typeface="Malgun Gothic"/>
              <a:cs typeface="Malgun Gothic"/>
            </a:endParaRPr>
          </a:p>
          <a:p>
            <a:pPr marL="414020" indent="-132715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미래의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어떤 시기에 해염,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가혹한 공업 지대 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일상적이지 않는 부식 환경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지역에 설치 된 </a:t>
            </a:r>
            <a:r>
              <a:rPr sz="900" spc="-25" dirty="0">
                <a:latin typeface="Malgun Gothic"/>
                <a:cs typeface="Malgun Gothic"/>
              </a:rPr>
              <a:t>경우.</a:t>
            </a:r>
            <a:endParaRPr sz="900" dirty="0">
              <a:latin typeface="Malgun Gothic"/>
              <a:cs typeface="Malgun Gothic"/>
            </a:endParaRPr>
          </a:p>
          <a:p>
            <a:pPr marL="414020" indent="-132715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절단면이나 포장 마지막 부분에서 발생되는 </a:t>
            </a:r>
            <a:r>
              <a:rPr sz="900" spc="-25" dirty="0">
                <a:latin typeface="Malgun Gothic"/>
                <a:cs typeface="Malgun Gothic"/>
              </a:rPr>
              <a:t>부식.</a:t>
            </a:r>
            <a:endParaRPr sz="900" dirty="0">
              <a:latin typeface="Malgun Gothic"/>
              <a:cs typeface="Malgun Gothic"/>
            </a:endParaRPr>
          </a:p>
          <a:p>
            <a:pPr marL="414020" indent="-132715">
              <a:lnSpc>
                <a:spcPct val="100000"/>
              </a:lnSpc>
              <a:spcBef>
                <a:spcPts val="900"/>
              </a:spcBef>
              <a:buAutoNum type="arabicParenR" startAt="7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부식된 고정물의 대체품으로서의 </a:t>
            </a:r>
            <a:r>
              <a:rPr sz="900" spc="-25" dirty="0">
                <a:latin typeface="Malgun Gothic"/>
                <a:cs typeface="Malgun Gothic"/>
              </a:rPr>
              <a:t>실패.</a:t>
            </a:r>
            <a:endParaRPr sz="900" dirty="0">
              <a:latin typeface="Malgun Gothic"/>
              <a:cs typeface="Malgun Gothic"/>
            </a:endParaRPr>
          </a:p>
          <a:p>
            <a:pPr marL="414020" indent="-195580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도막 박리에 있어서 제품의 표면에서 내부로 향한 </a:t>
            </a:r>
            <a:r>
              <a:rPr sz="900" spc="-25" dirty="0">
                <a:latin typeface="Malgun Gothic"/>
                <a:cs typeface="Malgun Gothic"/>
              </a:rPr>
              <a:t>것.</a:t>
            </a:r>
            <a:endParaRPr sz="900" dirty="0">
              <a:latin typeface="Malgun Gothic"/>
              <a:cs typeface="Malgun Gothic"/>
            </a:endParaRPr>
          </a:p>
          <a:p>
            <a:pPr marL="414020" marR="247015" indent="-195580">
              <a:lnSpc>
                <a:spcPct val="110800"/>
              </a:lnSpc>
              <a:spcBef>
                <a:spcPts val="790"/>
              </a:spcBef>
              <a:buAutoNum type="arabicParenR" startAt="7"/>
              <a:tabLst>
                <a:tab pos="415290" algn="l"/>
              </a:tabLst>
            </a:pPr>
            <a:r>
              <a:rPr sz="900" dirty="0">
                <a:latin typeface="Malgun Gothic"/>
                <a:cs typeface="Malgun Gothic"/>
              </a:rPr>
              <a:t>자연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재해,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불,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홍수,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폭발,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낙석,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전쟁행위,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폭동,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염분,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원자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방사능,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태풍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및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다른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유사한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천재지변에 	</a:t>
            </a:r>
            <a:r>
              <a:rPr sz="900" dirty="0">
                <a:latin typeface="Malgun Gothic"/>
                <a:cs typeface="Malgun Gothic"/>
              </a:rPr>
              <a:t>의하여 발생된 </a:t>
            </a:r>
            <a:r>
              <a:rPr sz="900" spc="-25" dirty="0" err="1">
                <a:latin typeface="Malgun Gothic"/>
                <a:cs typeface="Malgun Gothic"/>
              </a:rPr>
              <a:t>결함</a:t>
            </a:r>
            <a:r>
              <a:rPr sz="900" spc="-25" dirty="0" smtClean="0">
                <a:latin typeface="Malgun Gothic"/>
                <a:cs typeface="Malgun Gothic"/>
              </a:rPr>
              <a:t>.</a:t>
            </a:r>
            <a:endParaRPr lang="en-US" sz="900" spc="-25" dirty="0">
              <a:latin typeface="Malgun Gothic"/>
              <a:cs typeface="Malgun Gothic"/>
            </a:endParaRPr>
          </a:p>
          <a:p>
            <a:pPr marL="414020" marR="247015" indent="-195580">
              <a:lnSpc>
                <a:spcPct val="110800"/>
              </a:lnSpc>
              <a:spcBef>
                <a:spcPts val="790"/>
              </a:spcBef>
              <a:buAutoNum type="arabicParenR" startAt="7"/>
              <a:tabLst>
                <a:tab pos="415290" algn="l"/>
              </a:tabLst>
            </a:pPr>
            <a:r>
              <a:rPr lang="ko-KR" altLang="en-US" sz="900" dirty="0" smtClean="0">
                <a:latin typeface="Malgun Gothic"/>
                <a:cs typeface="Malgun Gothic"/>
              </a:rPr>
              <a:t> 다습한 지대</a:t>
            </a:r>
            <a:r>
              <a:rPr lang="en-US" altLang="ko-KR" sz="900" dirty="0" smtClean="0">
                <a:latin typeface="Malgun Gothic"/>
                <a:cs typeface="Malgun Gothic"/>
              </a:rPr>
              <a:t>, </a:t>
            </a:r>
            <a:r>
              <a:rPr lang="ko-KR" altLang="en-US" sz="900" dirty="0" smtClean="0">
                <a:latin typeface="Malgun Gothic"/>
                <a:cs typeface="Malgun Gothic"/>
              </a:rPr>
              <a:t>열대 지대</a:t>
            </a:r>
            <a:r>
              <a:rPr lang="en-US" altLang="ko-KR" sz="900" dirty="0" smtClean="0">
                <a:latin typeface="Malgun Gothic"/>
                <a:cs typeface="Malgun Gothic"/>
              </a:rPr>
              <a:t>, </a:t>
            </a:r>
            <a:r>
              <a:rPr lang="ko-KR" altLang="en-US" sz="900" dirty="0" smtClean="0">
                <a:latin typeface="Malgun Gothic"/>
                <a:cs typeface="Malgun Gothic"/>
              </a:rPr>
              <a:t>해안으로부터 </a:t>
            </a:r>
            <a:r>
              <a:rPr lang="en-US" altLang="ko-KR" sz="900" dirty="0" smtClean="0">
                <a:latin typeface="Malgun Gothic"/>
                <a:cs typeface="Malgun Gothic"/>
              </a:rPr>
              <a:t>500m </a:t>
            </a:r>
            <a:r>
              <a:rPr lang="ko-KR" altLang="en-US" sz="900" dirty="0" smtClean="0">
                <a:latin typeface="Malgun Gothic"/>
                <a:cs typeface="Malgun Gothic"/>
              </a:rPr>
              <a:t>이내 지역</a:t>
            </a:r>
            <a:r>
              <a:rPr lang="en-US" altLang="ko-KR" sz="900" dirty="0" smtClean="0">
                <a:latin typeface="Malgun Gothic"/>
                <a:cs typeface="Malgun Gothic"/>
              </a:rPr>
              <a:t>, </a:t>
            </a:r>
            <a:r>
              <a:rPr lang="ko-KR" altLang="en-US" sz="900" dirty="0" smtClean="0">
                <a:latin typeface="Malgun Gothic"/>
                <a:cs typeface="Malgun Gothic"/>
              </a:rPr>
              <a:t>해발 </a:t>
            </a:r>
            <a:r>
              <a:rPr lang="en-US" altLang="ko-KR" sz="900" dirty="0" smtClean="0">
                <a:latin typeface="Malgun Gothic"/>
                <a:cs typeface="Malgun Gothic"/>
              </a:rPr>
              <a:t>900m </a:t>
            </a:r>
            <a:r>
              <a:rPr lang="ko-KR" altLang="en-US" sz="900" dirty="0" smtClean="0">
                <a:latin typeface="Malgun Gothic"/>
                <a:cs typeface="Malgun Gothic"/>
              </a:rPr>
              <a:t>이상 지역</a:t>
            </a:r>
            <a:r>
              <a:rPr lang="en-US" altLang="ko-KR" sz="900" dirty="0" smtClean="0">
                <a:latin typeface="Malgun Gothic"/>
                <a:cs typeface="Malgun Gothic"/>
              </a:rPr>
              <a:t>, </a:t>
            </a:r>
            <a:r>
              <a:rPr lang="ko-KR" altLang="en-US" sz="900" dirty="0" smtClean="0">
                <a:latin typeface="Malgun Gothic"/>
                <a:cs typeface="Malgun Gothic"/>
              </a:rPr>
              <a:t>화학적인 오염물질이 많은 화학</a:t>
            </a:r>
            <a:r>
              <a:rPr lang="en-US" altLang="ko-KR" sz="900" dirty="0" smtClean="0">
                <a:latin typeface="Malgun Gothic"/>
                <a:cs typeface="Malgun Gothic"/>
              </a:rPr>
              <a:t>, </a:t>
            </a:r>
            <a:r>
              <a:rPr lang="ko-KR" altLang="en-US" sz="900" dirty="0" smtClean="0">
                <a:latin typeface="Malgun Gothic"/>
                <a:cs typeface="Malgun Gothic"/>
              </a:rPr>
              <a:t>철강 산업 인근 지대 등의 부식 및 오염물질이 많은 비정상적인 지대에 노출되어 발생한 손상의 경우</a:t>
            </a:r>
            <a:r>
              <a:rPr lang="en-US" altLang="ko-KR" sz="900" dirty="0" smtClean="0">
                <a:latin typeface="Malgun Gothic"/>
                <a:cs typeface="Malgun Gothic"/>
              </a:rPr>
              <a:t>.</a:t>
            </a:r>
            <a:endParaRPr sz="900" dirty="0">
              <a:latin typeface="Malgun Gothic"/>
              <a:cs typeface="Malgun Gothic"/>
            </a:endParaRPr>
          </a:p>
          <a:p>
            <a:pPr marL="223520" marR="129539" indent="-186055" algn="just">
              <a:lnSpc>
                <a:spcPct val="110800"/>
              </a:lnSpc>
              <a:spcBef>
                <a:spcPts val="1025"/>
              </a:spcBef>
              <a:buAutoNum type="arabicPeriod" startAt="14"/>
              <a:tabLst>
                <a:tab pos="224790" algn="l"/>
              </a:tabLst>
            </a:pPr>
            <a:r>
              <a:rPr sz="900" dirty="0">
                <a:latin typeface="Malgun Gothic"/>
                <a:cs typeface="Malgun Gothic"/>
              </a:rPr>
              <a:t>결함이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발견된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30일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이내에,</a:t>
            </a:r>
            <a:r>
              <a:rPr sz="900" spc="30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 기간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내에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클레임을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제기해야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한다. 구매자는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서면으로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결함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내용을 	</a:t>
            </a:r>
            <a:r>
              <a:rPr sz="900" dirty="0">
                <a:latin typeface="Malgun Gothic"/>
                <a:cs typeface="Malgun Gothic"/>
              </a:rPr>
              <a:t>알려야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하고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결함을 조사할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기회를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제공하여야 한다.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구매자는 결함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발생된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제품 코일의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수, Lot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No., 	</a:t>
            </a:r>
            <a:r>
              <a:rPr sz="900" dirty="0">
                <a:latin typeface="Malgun Gothic"/>
                <a:cs typeface="Malgun Gothic"/>
              </a:rPr>
              <a:t>시공일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및 최종 사용자를 표기하여 샘플 3매를 제공하여야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 marL="223520" marR="17780" indent="-186055">
              <a:lnSpc>
                <a:spcPct val="110800"/>
              </a:lnSpc>
              <a:spcBef>
                <a:spcPts val="1000"/>
              </a:spcBef>
              <a:buAutoNum type="arabicPeriod" startAt="14"/>
              <a:tabLst>
                <a:tab pos="224790" algn="l"/>
              </a:tabLst>
            </a:pPr>
            <a:r>
              <a:rPr sz="900" dirty="0">
                <a:latin typeface="Malgun Gothic"/>
                <a:cs typeface="Malgun Gothic"/>
              </a:rPr>
              <a:t>최종 사용자는 세아씨엠의 요구에 대한 유용한 정보를 제공하기 위하여 설치된 각 건물에 대한 코일의 </a:t>
            </a:r>
            <a:r>
              <a:rPr sz="900" spc="-25" dirty="0">
                <a:latin typeface="Malgun Gothic"/>
                <a:cs typeface="Malgun Gothic"/>
              </a:rPr>
              <a:t>수를 	</a:t>
            </a:r>
            <a:r>
              <a:rPr sz="900" dirty="0" err="1">
                <a:latin typeface="Malgun Gothic"/>
                <a:cs typeface="Malgun Gothic"/>
              </a:rPr>
              <a:t>명기하여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2</a:t>
            </a:r>
            <a:r>
              <a:rPr lang="en-US"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1</a:t>
            </a:r>
            <a:r>
              <a:rPr sz="900" dirty="0" smtClean="0">
                <a:latin typeface="Malgun Gothic"/>
                <a:cs typeface="Malgun Gothic"/>
              </a:rPr>
              <a:t>년 </a:t>
            </a:r>
            <a:r>
              <a:rPr sz="900" dirty="0">
                <a:latin typeface="Malgun Gothic"/>
                <a:cs typeface="Malgun Gothic"/>
              </a:rPr>
              <a:t>동안 기록을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유지 및 관리하여야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098" y="5159374"/>
            <a:ext cx="34220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Malgun Gothic"/>
                <a:cs typeface="Malgun Gothic"/>
              </a:rPr>
              <a:t>상기 조건이 행하여지는 경우에 본 보증서는 효력을 </a:t>
            </a:r>
            <a:r>
              <a:rPr sz="1000" b="1" spc="-20" dirty="0">
                <a:latin typeface="Malgun Gothic"/>
                <a:cs typeface="Malgun Gothic"/>
              </a:rPr>
              <a:t>지닌다.</a:t>
            </a:r>
            <a:endParaRPr sz="1000" dirty="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1330" y="6336715"/>
            <a:ext cx="1914792" cy="9526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19937" y="7441519"/>
            <a:ext cx="6813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0000"/>
                </a:solidFill>
                <a:latin typeface="Malgun Gothic"/>
                <a:cs typeface="Malgun Gothic"/>
              </a:rPr>
              <a:t>2026.04.27</a:t>
            </a:r>
            <a:endParaRPr sz="1000" dirty="0">
              <a:solidFill>
                <a:srgbClr val="FF0000"/>
              </a:solidFill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395</Words>
  <Application>Microsoft Office PowerPoint</Application>
  <PresentationFormat>사용자 지정</PresentationFormat>
  <Paragraphs>101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Theme</vt:lpstr>
      <vt:lpstr>PVDF TOP K012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PVDF TOP K012</dc:title>
  <dc:creator>SEAH</dc:creator>
  <cp:lastModifiedBy>SEAH</cp:lastModifiedBy>
  <cp:revision>9</cp:revision>
  <dcterms:created xsi:type="dcterms:W3CDTF">2026-04-26T23:11:48Z</dcterms:created>
  <dcterms:modified xsi:type="dcterms:W3CDTF">2026-06-24T08:09:44Z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2026-04-27T00:00:00Z</vt:filetime>
  </property>
  <property fmtid="{D5CDD505-2E9C-101B-9397-08002B2CF9AE}" pid="4" name="LastSaved">
    <vt:filetime>2026-04-26T00:00:00Z</vt:filetime>
  </property>
  <property fmtid="{D5CDD505-2E9C-101B-9397-08002B2CF9AE}" pid="5" name="Producer">
    <vt:lpwstr>Developer Express Inc. DXperience (tm) v20.2.6</vt:lpwstr>
  </property>
</Properties>
</file>